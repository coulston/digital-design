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62" r:id="rId2"/>
    <p:sldId id="538" r:id="rId3"/>
    <p:sldId id="638" r:id="rId4"/>
    <p:sldId id="557" r:id="rId5"/>
    <p:sldId id="593" r:id="rId6"/>
    <p:sldId id="635" r:id="rId7"/>
    <p:sldId id="639" r:id="rId8"/>
    <p:sldId id="640" r:id="rId9"/>
    <p:sldId id="641" r:id="rId10"/>
    <p:sldId id="636" r:id="rId11"/>
    <p:sldId id="637" r:id="rId12"/>
    <p:sldId id="620" r:id="rId13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314D"/>
    <a:srgbClr val="263F6A"/>
    <a:srgbClr val="8B8D8E"/>
    <a:srgbClr val="CED5DD"/>
    <a:srgbClr val="B2B4B3"/>
    <a:srgbClr val="DD5F36"/>
    <a:srgbClr val="D2492A"/>
    <a:srgbClr val="92A2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9352" autoAdjust="0"/>
    <p:restoredTop sz="75177" autoAdjust="0"/>
  </p:normalViewPr>
  <p:slideViewPr>
    <p:cSldViewPr snapToGrid="0" snapToObjects="1">
      <p:cViewPr varScale="1">
        <p:scale>
          <a:sx n="111" d="100"/>
          <a:sy n="111" d="100"/>
        </p:scale>
        <p:origin x="1236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68" d="100"/>
          <a:sy n="168" d="100"/>
        </p:scale>
        <p:origin x="3688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F4CACEE8-2363-405E-AE43-B93611128B65}" type="datetimeFigureOut">
              <a:rPr lang="en-US"/>
              <a:pPr>
                <a:defRPr/>
              </a:pPr>
              <a:t>9/22/2025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8CDC4AD8-E3F4-40EB-94AB-8CB5BDA7ED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1AF7728E-7BCC-4E5D-8DEB-729D60A2B695}" type="datetimeFigureOut">
              <a:rPr lang="en-US"/>
              <a:pPr>
                <a:defRPr/>
              </a:pPr>
              <a:t>9/22/2025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231E9C10-9A37-4D5C-B00E-23F597E185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/>
              <a:t>Usually the &lt;title of the lab&gt; is what will be called the “System” through the rest of this document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D11A26FC-4E22-4720-8197-01921EB5A4DA}" type="slidenum">
              <a:rPr lang="en-US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>
              <a:cs typeface="Arial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57200" y="720725"/>
            <a:ext cx="6400800" cy="36004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2048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6625FEA0-B06A-42C3-A48F-CD7E5ABEEB15}" type="slidenum">
              <a:rPr lang="en-US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>
              <a:cs typeface="Arial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/>
              <a:t>Replace &lt;System&gt; with the name of the </a:t>
            </a:r>
          </a:p>
        </p:txBody>
      </p:sp>
      <p:sp>
        <p:nvSpPr>
          <p:cNvPr id="2253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C5B79814-434E-4C5C-AB25-B9E32D256573}" type="slidenum">
              <a:rPr lang="en-US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>
              <a:cs typeface="Arial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/>
              <a:t>Replace &lt;System&gt; with the name of the </a:t>
            </a:r>
          </a:p>
        </p:txBody>
      </p:sp>
      <p:sp>
        <p:nvSpPr>
          <p:cNvPr id="2457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FB914B89-5AC9-48D5-BCDD-604FE2C6702E}" type="slidenum">
              <a:rPr lang="en-US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>
              <a:cs typeface="Arial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98463" y="696913"/>
            <a:ext cx="6188075" cy="348138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/>
              <a:t>Talk about the input is transformed into the output using the system architecture</a:t>
            </a:r>
          </a:p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2662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4B11F4EE-5D96-4375-A2B7-E9E9198D141C}" type="slidenum">
              <a:rPr lang="en-US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>
              <a:cs typeface="Arial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2867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512057F-BFAA-495F-8BB6-E0EA5EA2DF24}" type="slidenum">
              <a:rPr lang="en-US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>
              <a:cs typeface="Arial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3072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9D889F1E-BD30-4BCB-B289-24FE27A65D00}" type="slidenum">
              <a:rPr lang="en-US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>
              <a:cs typeface="Arial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3277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6BE577B4-B34B-4FF0-8B9D-FAAB55418321}" type="slidenum">
              <a:rPr lang="en-US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>
              <a:cs typeface="Arial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3481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78F3172-3E37-4DC9-BCCC-0A0DF1D327D9}" type="slidenum">
              <a:rPr lang="en-US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>
              <a:cs typeface="Arial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3686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95A1F290-00DD-4AF0-8613-F69D5F128E55}" type="slidenum">
              <a:rPr lang="en-US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>
              <a:cs typeface="Arial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91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3891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51ED0B42-62F2-442D-8A67-946067AD9988}" type="slidenum">
              <a:rPr lang="en-US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>
              <a:cs typeface="Arial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4096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2095CFF-EA88-44CF-8FD6-6C9594A97FE3}" type="slidenum">
              <a:rPr lang="en-US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>
              <a:cs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5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835150" y="171450"/>
            <a:ext cx="10356850" cy="5824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20"/>
          <p:cNvSpPr/>
          <p:nvPr userDrawn="1"/>
        </p:nvSpPr>
        <p:spPr>
          <a:xfrm>
            <a:off x="-33338" y="0"/>
            <a:ext cx="12258676" cy="6265863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cxnSp>
        <p:nvCxnSpPr>
          <p:cNvPr id="6" name="Straight Connector 13"/>
          <p:cNvCxnSpPr/>
          <p:nvPr userDrawn="1"/>
        </p:nvCxnSpPr>
        <p:spPr>
          <a:xfrm>
            <a:off x="520700" y="3287713"/>
            <a:ext cx="911225" cy="0"/>
          </a:xfrm>
          <a:prstGeom prst="line">
            <a:avLst/>
          </a:prstGeom>
          <a:ln w="28575">
            <a:solidFill>
              <a:srgbClr val="D2492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21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381000" y="6373813"/>
            <a:ext cx="3200400" cy="363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22"/>
          <p:cNvSpPr txBox="1"/>
          <p:nvPr userDrawn="1"/>
        </p:nvSpPr>
        <p:spPr>
          <a:xfrm>
            <a:off x="7478713" y="6407150"/>
            <a:ext cx="448945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rgbClr val="21314D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b="1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9" name="Picture 23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835150" y="171450"/>
            <a:ext cx="10356850" cy="5824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395371" y="3737295"/>
            <a:ext cx="9144000" cy="1655762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Subhead, name or date goes here</a:t>
            </a:r>
          </a:p>
        </p:txBody>
      </p:sp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395371" y="2243579"/>
            <a:ext cx="10803672" cy="719056"/>
          </a:xfrm>
        </p:spPr>
        <p:txBody>
          <a:bodyPr>
            <a:normAutofit/>
          </a:bodyPr>
          <a:lstStyle>
            <a:lvl1pPr>
              <a:defRPr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F57FEC23-D6E3-410F-B7E6-49574638CAC9}" type="datetimeFigureOut">
              <a:rPr lang="en-US"/>
              <a:pPr>
                <a:defRPr/>
              </a:pPr>
              <a:t>9/22/2025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dirty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BCDCC373-8557-4547-860E-AA668C081B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/>
          <p:nvPr userDrawn="1"/>
        </p:nvSpPr>
        <p:spPr>
          <a:xfrm>
            <a:off x="-9525" y="-9525"/>
            <a:ext cx="12201525" cy="6265863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5" name="Picture 1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81000" y="6373813"/>
            <a:ext cx="3200400" cy="363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12"/>
          <p:cNvSpPr txBox="1"/>
          <p:nvPr userDrawn="1"/>
        </p:nvSpPr>
        <p:spPr>
          <a:xfrm>
            <a:off x="7478713" y="6407150"/>
            <a:ext cx="448945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rgbClr val="21314D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b="1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 b="0" i="0">
                <a:solidFill>
                  <a:srgbClr val="92A2BD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5C3360BD-7DE0-4966-83A1-88E92D6D7D27}" type="datetimeFigureOut">
              <a:rPr lang="en-US"/>
              <a:pPr>
                <a:defRPr/>
              </a:pPr>
              <a:t>9/22/2025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CFBA848A-650B-49B1-A53C-B187A3D252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/>
          <p:cNvSpPr/>
          <p:nvPr userDrawn="1"/>
        </p:nvSpPr>
        <p:spPr>
          <a:xfrm>
            <a:off x="-9525" y="6265863"/>
            <a:ext cx="12201525" cy="601662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" name="TextBox 13"/>
          <p:cNvSpPr txBox="1"/>
          <p:nvPr userDrawn="1"/>
        </p:nvSpPr>
        <p:spPr>
          <a:xfrm>
            <a:off x="7478713" y="6399213"/>
            <a:ext cx="4489450" cy="368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b="1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6" name="Picture 9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81000" y="6381750"/>
            <a:ext cx="3200400" cy="363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9D52F4C4-B058-410B-8311-977E17084CBA}" type="datetimeFigureOut">
              <a:rPr lang="en-US"/>
              <a:pPr>
                <a:defRPr/>
              </a:pPr>
              <a:t>9/22/2025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1E16EB12-FFB9-4F4E-8362-72FC3672F8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/>
          <p:nvPr userDrawn="1"/>
        </p:nvSpPr>
        <p:spPr>
          <a:xfrm>
            <a:off x="-9525" y="6265863"/>
            <a:ext cx="12201525" cy="592137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" name="TextBox 12"/>
          <p:cNvSpPr txBox="1"/>
          <p:nvPr userDrawn="1"/>
        </p:nvSpPr>
        <p:spPr>
          <a:xfrm>
            <a:off x="7478713" y="6399213"/>
            <a:ext cx="4489450" cy="368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b="1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7" name="Picture 13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81000" y="6381750"/>
            <a:ext cx="3200400" cy="363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43A8FD96-FE02-4167-BC54-394D3E30008C}" type="datetimeFigureOut">
              <a:rPr lang="en-US"/>
              <a:pPr>
                <a:defRPr/>
              </a:pPr>
              <a:t>9/22/2025</a:t>
            </a:fld>
            <a:endParaRPr lang="en-US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07F48A1A-1196-4124-89C6-C9A464E1D5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9"/>
          <p:cNvSpPr/>
          <p:nvPr userDrawn="1"/>
        </p:nvSpPr>
        <p:spPr>
          <a:xfrm>
            <a:off x="-9525" y="6265863"/>
            <a:ext cx="12201525" cy="592137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TextBox 14"/>
          <p:cNvSpPr txBox="1"/>
          <p:nvPr userDrawn="1"/>
        </p:nvSpPr>
        <p:spPr>
          <a:xfrm>
            <a:off x="7478713" y="6399213"/>
            <a:ext cx="4489450" cy="368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b="1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9" name="Picture 15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81000" y="6381750"/>
            <a:ext cx="3200400" cy="363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1D8E404E-FBC3-4314-B04D-6A7C75CCE94D}" type="datetimeFigureOut">
              <a:rPr lang="en-US"/>
              <a:pPr>
                <a:defRPr/>
              </a:pPr>
              <a:t>9/22/2025</a:t>
            </a:fld>
            <a:endParaRPr lang="en-US"/>
          </a:p>
        </p:txBody>
      </p:sp>
      <p:sp>
        <p:nvSpPr>
          <p:cNvPr id="11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A79E4B89-BECF-4517-AA78-2AB599FE08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/>
          <p:cNvSpPr/>
          <p:nvPr userDrawn="1"/>
        </p:nvSpPr>
        <p:spPr>
          <a:xfrm>
            <a:off x="-9525" y="6265863"/>
            <a:ext cx="12201525" cy="592137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" name="TextBox 10"/>
          <p:cNvSpPr txBox="1"/>
          <p:nvPr userDrawn="1"/>
        </p:nvSpPr>
        <p:spPr>
          <a:xfrm>
            <a:off x="7478713" y="6399213"/>
            <a:ext cx="4489450" cy="368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b="1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5" name="Picture 1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81000" y="6381750"/>
            <a:ext cx="3200400" cy="363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ACCF9B0C-B962-49C4-A8AD-D27B263001AB}" type="datetimeFigureOut">
              <a:rPr lang="en-US"/>
              <a:pPr>
                <a:defRPr/>
              </a:pPr>
              <a:t>9/22/2025</a:t>
            </a:fld>
            <a:endParaRPr lang="en-US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572AADA3-7437-4153-AE7A-586F94E72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 txBox="1">
            <a:spLocks/>
          </p:cNvSpPr>
          <p:nvPr userDrawn="1"/>
        </p:nvSpPr>
        <p:spPr>
          <a:xfrm>
            <a:off x="838200" y="5746750"/>
            <a:ext cx="13017500" cy="7794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rgbClr val="21314D"/>
                </a:solidFill>
                <a:latin typeface="Gotham Medium" charset="0"/>
                <a:ea typeface="Gotham Medium" charset="0"/>
                <a:cs typeface="Gotham Medium" charset="0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Headline Copy Goes Here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1"/>
          </p:nvPr>
        </p:nvSpPr>
        <p:spPr>
          <a:xfrm>
            <a:off x="0" y="1"/>
            <a:ext cx="12192000" cy="557703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D1A40208-45A4-492A-B840-F5C9568E3069}" type="datetimeFigureOut">
              <a:rPr lang="en-US"/>
              <a:pPr>
                <a:defRPr/>
              </a:pPr>
              <a:t>9/22/2025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D12DAC63-9EEF-4353-8D7E-E795DD0F57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-9525" y="-9525"/>
            <a:ext cx="12201525" cy="6867525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835150" y="552450"/>
            <a:ext cx="10356850" cy="582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2046399" y="2531096"/>
            <a:ext cx="9144000" cy="1655762"/>
          </a:xfrm>
        </p:spPr>
        <p:txBody>
          <a:bodyPr>
            <a:normAutofit/>
          </a:bodyPr>
          <a:lstStyle>
            <a:lvl1pPr marL="0" indent="0">
              <a:buNone/>
              <a:defRPr sz="4000"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7"/>
          <p:cNvSpPr txBox="1"/>
          <p:nvPr userDrawn="1"/>
        </p:nvSpPr>
        <p:spPr>
          <a:xfrm>
            <a:off x="7478713" y="6407150"/>
            <a:ext cx="448945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rgbClr val="21314D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b="1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7060252" y="982464"/>
            <a:ext cx="4862405" cy="1794085"/>
          </a:xfrm>
        </p:spPr>
        <p:txBody>
          <a:bodyPr/>
          <a:lstStyle/>
          <a:p>
            <a:r>
              <a:rPr lang="en-US" dirty="0"/>
              <a:t>Headline Copy Goes Here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7060253" y="3052261"/>
            <a:ext cx="4862404" cy="1975926"/>
          </a:xfrm>
        </p:spPr>
        <p:txBody>
          <a:bodyPr/>
          <a:lstStyle/>
          <a:p>
            <a:r>
              <a:rPr lang="en-US" dirty="0"/>
              <a:t>Click to add text</a:t>
            </a:r>
          </a:p>
          <a:p>
            <a:r>
              <a:rPr lang="en-US" dirty="0"/>
              <a:t>Click to add text</a:t>
            </a:r>
          </a:p>
        </p:txBody>
      </p:sp>
      <p:sp>
        <p:nvSpPr>
          <p:cNvPr id="6" name="Picture Placeholder 2"/>
          <p:cNvSpPr>
            <a:spLocks noGrp="1"/>
          </p:cNvSpPr>
          <p:nvPr>
            <p:ph type="pic" idx="10"/>
          </p:nvPr>
        </p:nvSpPr>
        <p:spPr>
          <a:xfrm>
            <a:off x="0" y="3"/>
            <a:ext cx="6890995" cy="6857999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en-US" noProof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/>
          <p:nvPr userDrawn="1"/>
        </p:nvSpPr>
        <p:spPr>
          <a:xfrm>
            <a:off x="-9525" y="6265863"/>
            <a:ext cx="12201525" cy="592137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" name="TextBox 10"/>
          <p:cNvSpPr txBox="1"/>
          <p:nvPr userDrawn="1"/>
        </p:nvSpPr>
        <p:spPr>
          <a:xfrm>
            <a:off x="7478713" y="6399213"/>
            <a:ext cx="4489450" cy="368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b="1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7" name="Picture 13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81000" y="6381750"/>
            <a:ext cx="3200400" cy="363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13D73666-5725-40D6-942E-D3754E228106}" type="datetimeFigureOut">
              <a:rPr lang="en-US"/>
              <a:pPr>
                <a:defRPr/>
              </a:pPr>
              <a:t>9/22/2025</a:t>
            </a:fld>
            <a:endParaRPr lang="en-US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AD6545C5-204E-49DB-BD14-038EE01A27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/>
          <p:nvPr userDrawn="1"/>
        </p:nvSpPr>
        <p:spPr>
          <a:xfrm>
            <a:off x="-9525" y="-9525"/>
            <a:ext cx="5183188" cy="6942138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6" name="Picture 1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81000" y="6381750"/>
            <a:ext cx="3200400" cy="363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058" y="472281"/>
            <a:ext cx="3932237" cy="1600200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9" y="2"/>
            <a:ext cx="7008812" cy="6857999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0058" y="2072481"/>
            <a:ext cx="3932237" cy="3811588"/>
          </a:xfrm>
        </p:spPr>
        <p:txBody>
          <a:bodyPr>
            <a:normAutofit/>
          </a:bodyPr>
          <a:lstStyle>
            <a:lvl1pPr marL="457189" indent="-457189">
              <a:buFont typeface="Arial" charset="0"/>
              <a:buChar char="•"/>
              <a:defRPr sz="2800">
                <a:solidFill>
                  <a:schemeClr val="bg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494C4B97-91DF-4D0D-90BF-E118486FD9AD}" type="datetimeFigureOut">
              <a:rPr lang="en-US"/>
              <a:pPr>
                <a:defRPr/>
              </a:pPr>
              <a:t>9/22/2025</a:t>
            </a:fld>
            <a:endParaRPr lang="en-US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E2C9ECED-FDC0-406D-B464-546CF8378F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 userDrawn="1"/>
        </p:nvSpPr>
        <p:spPr>
          <a:xfrm>
            <a:off x="-9525" y="6265863"/>
            <a:ext cx="12201525" cy="601662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" name="TextBox 11"/>
          <p:cNvSpPr txBox="1"/>
          <p:nvPr userDrawn="1"/>
        </p:nvSpPr>
        <p:spPr>
          <a:xfrm>
            <a:off x="7478713" y="6399213"/>
            <a:ext cx="4489450" cy="368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b="1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6" name="Picture 12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81000" y="6381750"/>
            <a:ext cx="3200400" cy="363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350858FA-FD0D-4014-AE46-2843141B7DEC}" type="datetimeFigureOut">
              <a:rPr lang="en-US"/>
              <a:pPr>
                <a:defRPr/>
              </a:pPr>
              <a:t>9/22/2025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16464B42-1171-4576-811F-0984667A11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 userDrawn="1"/>
        </p:nvSpPr>
        <p:spPr>
          <a:xfrm>
            <a:off x="-9525" y="6265863"/>
            <a:ext cx="12201525" cy="601662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" name="TextBox 11"/>
          <p:cNvSpPr txBox="1"/>
          <p:nvPr userDrawn="1"/>
        </p:nvSpPr>
        <p:spPr>
          <a:xfrm>
            <a:off x="7478713" y="6399213"/>
            <a:ext cx="4489450" cy="368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b="1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6" name="Picture 12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81000" y="6381750"/>
            <a:ext cx="3200400" cy="363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86B7601D-96DF-424A-BC02-BDD1A26554ED}" type="datetimeFigureOut">
              <a:rPr lang="en-US"/>
              <a:pPr>
                <a:defRPr/>
              </a:pPr>
              <a:t>9/22/2025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2EB7649E-896F-467C-BEB0-E675A46304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xStyles>
    <p:titleStyle>
      <a:lvl1pPr algn="l" defTabSz="912813" rtl="0" fontAlgn="base">
        <a:lnSpc>
          <a:spcPct val="90000"/>
        </a:lnSpc>
        <a:spcBef>
          <a:spcPct val="0"/>
        </a:spcBef>
        <a:spcAft>
          <a:spcPct val="0"/>
        </a:spcAft>
        <a:defRPr sz="4400" b="1" kern="1200">
          <a:solidFill>
            <a:srgbClr val="21314D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algn="l" defTabSz="912813" rtl="0" fontAlgn="base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rgbClr val="21314D"/>
          </a:solidFill>
          <a:latin typeface="Arial" charset="0"/>
          <a:cs typeface="Arial" charset="0"/>
        </a:defRPr>
      </a:lvl2pPr>
      <a:lvl3pPr algn="l" defTabSz="912813" rtl="0" fontAlgn="base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rgbClr val="21314D"/>
          </a:solidFill>
          <a:latin typeface="Arial" charset="0"/>
          <a:cs typeface="Arial" charset="0"/>
        </a:defRPr>
      </a:lvl3pPr>
      <a:lvl4pPr algn="l" defTabSz="912813" rtl="0" fontAlgn="base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rgbClr val="21314D"/>
          </a:solidFill>
          <a:latin typeface="Arial" charset="0"/>
          <a:cs typeface="Arial" charset="0"/>
        </a:defRPr>
      </a:lvl4pPr>
      <a:lvl5pPr algn="l" defTabSz="912813" rtl="0" fontAlgn="base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rgbClr val="21314D"/>
          </a:solidFill>
          <a:latin typeface="Arial" charset="0"/>
          <a:cs typeface="Arial" charset="0"/>
        </a:defRPr>
      </a:lvl5pPr>
      <a:lvl6pPr marL="457200" algn="l" defTabSz="912813" rtl="0" fontAlgn="base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rgbClr val="21314D"/>
          </a:solidFill>
          <a:latin typeface="Arial" charset="0"/>
          <a:cs typeface="Arial" charset="0"/>
        </a:defRPr>
      </a:lvl6pPr>
      <a:lvl7pPr marL="914400" algn="l" defTabSz="912813" rtl="0" fontAlgn="base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rgbClr val="21314D"/>
          </a:solidFill>
          <a:latin typeface="Arial" charset="0"/>
          <a:cs typeface="Arial" charset="0"/>
        </a:defRPr>
      </a:lvl7pPr>
      <a:lvl8pPr marL="1371600" algn="l" defTabSz="912813" rtl="0" fontAlgn="base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rgbClr val="21314D"/>
          </a:solidFill>
          <a:latin typeface="Arial" charset="0"/>
          <a:cs typeface="Arial" charset="0"/>
        </a:defRPr>
      </a:lvl8pPr>
      <a:lvl9pPr marL="1828800" algn="l" defTabSz="912813" rtl="0" fontAlgn="base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rgbClr val="21314D"/>
          </a:solidFill>
          <a:latin typeface="Arial" charset="0"/>
          <a:cs typeface="Arial" charset="0"/>
        </a:defRPr>
      </a:lvl9pPr>
    </p:titleStyle>
    <p:bodyStyle>
      <a:lvl1pPr marL="227013" indent="-227013" algn="l" defTabSz="912813" rtl="0" fontAlgn="base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marL="684213" indent="-227013" algn="l" defTabSz="912813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2pPr>
      <a:lvl3pPr marL="1141413" indent="-227013" algn="l" defTabSz="912813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3pPr>
      <a:lvl4pPr marL="1598613" indent="-227013" algn="l" defTabSz="912813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4pPr>
      <a:lvl5pPr marL="2055813" indent="-227013" algn="l" defTabSz="912813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ctrTitle"/>
          </p:nvPr>
        </p:nvSpPr>
        <p:spPr>
          <a:xfrm>
            <a:off x="395288" y="1916113"/>
            <a:ext cx="10804525" cy="1298575"/>
          </a:xfrm>
        </p:spPr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EENG 284</a:t>
            </a:r>
            <a:br>
              <a:rPr lang="en-US">
                <a:latin typeface="Arial" charset="0"/>
                <a:cs typeface="Arial" charset="0"/>
              </a:rPr>
            </a:br>
            <a:r>
              <a:rPr lang="en-US">
                <a:latin typeface="Arial" charset="0"/>
                <a:cs typeface="Arial" charset="0"/>
              </a:rPr>
              <a:t>Lab 3</a:t>
            </a:r>
          </a:p>
        </p:txBody>
      </p:sp>
      <p:sp>
        <p:nvSpPr>
          <p:cNvPr id="17410" name="Subtitle 2"/>
          <p:cNvSpPr>
            <a:spLocks noGrp="1"/>
          </p:cNvSpPr>
          <p:nvPr>
            <p:ph type="subTitle" idx="1"/>
          </p:nvPr>
        </p:nvSpPr>
        <p:spPr>
          <a:xfrm>
            <a:off x="395288" y="3736975"/>
            <a:ext cx="9144000" cy="1655763"/>
          </a:xfrm>
        </p:spPr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Rock, Paper, Scissors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Lab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90925"/>
          </a:xfrm>
        </p:spPr>
        <p:txBody>
          <a:bodyPr rtlCol="0">
            <a:normAutofit/>
          </a:bodyPr>
          <a:lstStyle/>
          <a:p>
            <a:pPr marL="228594" indent="-228594" defTabSz="914377"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dirty="0"/>
              <a:t>The objective of this lab is to use the concepts learned to build a digital system to play a game of rock, paper, scissors.</a:t>
            </a:r>
          </a:p>
          <a:p>
            <a:pPr marL="228594" indent="-228594" defTabSz="914377"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dirty="0"/>
              <a:t>Learn how to instantiate objects</a:t>
            </a:r>
          </a:p>
          <a:p>
            <a:pPr marL="228594" indent="-228594" defTabSz="914377"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dirty="0"/>
              <a:t>Learn hierarchical design</a:t>
            </a:r>
          </a:p>
          <a:p>
            <a:pPr marL="0" indent="0" defTabSz="914377" fontAlgn="auto">
              <a:spcAft>
                <a:spcPts val="0"/>
              </a:spcAft>
              <a:buFont typeface="Arial"/>
              <a:buNone/>
              <a:defRPr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Rock Paper Scissors – the game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97250"/>
          </a:xfrm>
        </p:spPr>
        <p:txBody>
          <a:bodyPr rtlCol="0">
            <a:normAutofit/>
          </a:bodyPr>
          <a:lstStyle/>
          <a:p>
            <a:pPr marL="228594" indent="-228594" defTabSz="914377"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dirty="0"/>
              <a:t>Each play makes a throw</a:t>
            </a:r>
          </a:p>
          <a:p>
            <a:pPr marL="685783" lvl="1" indent="-228594" defTabSz="914377"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dirty="0"/>
              <a:t>Rock beats Scissor</a:t>
            </a:r>
          </a:p>
          <a:p>
            <a:pPr marL="685783" lvl="1" indent="-228594" defTabSz="914377"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dirty="0"/>
              <a:t>Scissors beat Paper</a:t>
            </a:r>
          </a:p>
          <a:p>
            <a:pPr marL="685783" lvl="1" indent="-228594" defTabSz="914377"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dirty="0"/>
              <a:t>Paper beats Rock</a:t>
            </a:r>
            <a:endParaRPr lang="en-US" sz="2800" dirty="0"/>
          </a:p>
          <a:p>
            <a:pPr marL="0" indent="0" defTabSz="914377" fontAlgn="auto">
              <a:spcAft>
                <a:spcPts val="0"/>
              </a:spcAft>
              <a:buFont typeface="Arial"/>
              <a:buNone/>
              <a:defRPr/>
            </a:pPr>
            <a:endParaRPr lang="en-US" dirty="0"/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94363" y="1825625"/>
            <a:ext cx="5943600" cy="2795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Input, Output Behavior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838200" y="1844675"/>
            <a:ext cx="10515600" cy="2014538"/>
          </a:xfrm>
        </p:spPr>
        <p:txBody>
          <a:bodyPr rtlCol="0">
            <a:normAutofit fontScale="92500" lnSpcReduction="20000"/>
          </a:bodyPr>
          <a:lstStyle/>
          <a:p>
            <a:pPr marL="228594" indent="-228594" defTabSz="914377"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dirty="0"/>
              <a:t>Input</a:t>
            </a:r>
          </a:p>
          <a:p>
            <a:pPr marL="685783" lvl="1" indent="-228594" defTabSz="914377"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dirty="0"/>
              <a:t>Each player slides 1 switch (one’s hot)</a:t>
            </a:r>
          </a:p>
          <a:p>
            <a:pPr marL="685783" lvl="1" indent="-228594" defTabSz="914377"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dirty="0"/>
              <a:t>Then press Play button</a:t>
            </a:r>
          </a:p>
          <a:p>
            <a:pPr marL="228594" indent="-228594" defTabSz="914377"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dirty="0"/>
              <a:t>Output</a:t>
            </a:r>
          </a:p>
          <a:p>
            <a:pPr marL="685783" lvl="1" indent="-228594" defTabSz="914377"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sz="2200" dirty="0"/>
              <a:t>Throw 7-segment shows play</a:t>
            </a:r>
          </a:p>
          <a:p>
            <a:pPr marL="685783" lvl="1" indent="-228594" defTabSz="914377"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sz="2200" dirty="0"/>
              <a:t>Win/Loose shows who won</a:t>
            </a:r>
          </a:p>
          <a:p>
            <a:pPr marL="0" indent="0" defTabSz="914377" fontAlgn="auto">
              <a:spcAft>
                <a:spcPts val="0"/>
              </a:spcAft>
              <a:buFont typeface="Arial"/>
              <a:buNone/>
              <a:defRPr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5F2C62-08FD-4506-92A3-A4F5B833FF9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581"/>
          <a:stretch/>
        </p:blipFill>
        <p:spPr>
          <a:xfrm>
            <a:off x="2726421" y="3723251"/>
            <a:ext cx="6259913" cy="24841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System architecture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65C6CBF-D1F5-46F3-9F44-F8C75C922F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233" y="1489191"/>
            <a:ext cx="10413534" cy="46786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oneToDense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228594" indent="-228594" defTabSz="914377"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dirty="0"/>
              <a:t>Input:	3-bit vector 		Rock, Paper or Scissors</a:t>
            </a:r>
          </a:p>
          <a:p>
            <a:pPr marL="228594" indent="-228594" defTabSz="914377"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dirty="0"/>
              <a:t>Output:	2-bit vector</a:t>
            </a:r>
          </a:p>
          <a:p>
            <a:pPr marL="228594" indent="-228594" defTabSz="914377" fontAlgn="auto">
              <a:spcAft>
                <a:spcPts val="0"/>
              </a:spcAft>
              <a:buFont typeface="Arial"/>
              <a:buChar char="•"/>
              <a:defRPr/>
            </a:pPr>
            <a:endParaRPr lang="en-US" dirty="0"/>
          </a:p>
          <a:p>
            <a:pPr marL="228594" indent="-228594" defTabSz="914377"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dirty="0"/>
              <a:t>One’s-hot code</a:t>
            </a:r>
          </a:p>
          <a:p>
            <a:pPr marL="685783" lvl="1" indent="-228594" defTabSz="914377"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dirty="0"/>
              <a:t>Exactly 1 bit is equal to logic 1, all others 0</a:t>
            </a:r>
          </a:p>
          <a:p>
            <a:pPr marL="685783" lvl="1" indent="-228594" defTabSz="914377"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dirty="0"/>
              <a:t>“Hot” bit is logic 1</a:t>
            </a:r>
          </a:p>
          <a:p>
            <a:pPr marL="685783" lvl="1" indent="-228594" defTabSz="914377"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dirty="0"/>
              <a:t>N-bit string has N one’s-hot codes</a:t>
            </a:r>
          </a:p>
          <a:p>
            <a:pPr marL="228594" indent="-228594" defTabSz="914377"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dirty="0"/>
              <a:t>Dense code</a:t>
            </a:r>
          </a:p>
          <a:p>
            <a:pPr marL="685783" lvl="1" indent="-228594" defTabSz="914377"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dirty="0"/>
              <a:t>Every combination of bits has a meaning</a:t>
            </a:r>
          </a:p>
          <a:p>
            <a:pPr marL="0" indent="0" defTabSz="914377" fontAlgn="auto">
              <a:spcAft>
                <a:spcPts val="0"/>
              </a:spcAft>
              <a:buFont typeface="Arial"/>
              <a:buNone/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playToSevenSeg Module</a:t>
            </a:r>
          </a:p>
        </p:txBody>
      </p:sp>
      <p:sp>
        <p:nvSpPr>
          <p:cNvPr id="2969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Input:	2-bit dense code of play</a:t>
            </a:r>
          </a:p>
          <a:p>
            <a:r>
              <a:rPr lang="en-US">
                <a:latin typeface="Arial" charset="0"/>
                <a:cs typeface="Arial" charset="0"/>
              </a:rPr>
              <a:t>Output	7-bit seven segment showing play</a:t>
            </a:r>
          </a:p>
          <a:p>
            <a:endParaRPr lang="en-US">
              <a:latin typeface="Arial" charset="0"/>
              <a:cs typeface="Arial" charset="0"/>
            </a:endParaRPr>
          </a:p>
        </p:txBody>
      </p:sp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92325" y="3429000"/>
            <a:ext cx="8007350" cy="2374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winLose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228594" indent="-228594" defTabSz="914377"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dirty="0"/>
              <a:t>Input:	2-bit dense code of play from each player</a:t>
            </a:r>
          </a:p>
          <a:p>
            <a:pPr marL="0" indent="0" defTabSz="914377" fontAlgn="auto">
              <a:spcAft>
                <a:spcPts val="0"/>
              </a:spcAft>
              <a:buFont typeface="Arial"/>
              <a:buNone/>
              <a:defRPr/>
            </a:pPr>
            <a:r>
              <a:rPr lang="en-US" dirty="0"/>
              <a:t>		button</a:t>
            </a:r>
          </a:p>
          <a:p>
            <a:pPr marL="228594" indent="-228594" defTabSz="914377"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dirty="0"/>
              <a:t>Output	7-bit seven segment showing game outcome</a:t>
            </a:r>
          </a:p>
        </p:txBody>
      </p:sp>
      <p:pic>
        <p:nvPicPr>
          <p:cNvPr id="317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182938" y="3633788"/>
            <a:ext cx="5826125" cy="2381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rpsGame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228594" indent="-228594" defTabSz="914377"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dirty="0"/>
              <a:t>Input:	3-bit one’s-hot code of play from each player</a:t>
            </a:r>
          </a:p>
          <a:p>
            <a:pPr marL="0" indent="0" defTabSz="914377" fontAlgn="auto">
              <a:spcAft>
                <a:spcPts val="0"/>
              </a:spcAft>
              <a:buFont typeface="Arial"/>
              <a:buNone/>
              <a:defRPr/>
            </a:pPr>
            <a:r>
              <a:rPr lang="en-US" dirty="0"/>
              <a:t>		button</a:t>
            </a:r>
          </a:p>
          <a:p>
            <a:pPr marL="228594" indent="-228594" defTabSz="914377"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dirty="0"/>
              <a:t>Output	7-bit seven segment showing each player’s play</a:t>
            </a:r>
          </a:p>
          <a:p>
            <a:pPr marL="0" indent="0" defTabSz="914377" fontAlgn="auto">
              <a:spcAft>
                <a:spcPts val="0"/>
              </a:spcAft>
              <a:buFont typeface="Arial"/>
              <a:buNone/>
              <a:defRPr/>
            </a:pPr>
            <a:r>
              <a:rPr lang="en-US" dirty="0"/>
              <a:t>		7-bit seven segment showing game outcome</a:t>
            </a:r>
          </a:p>
          <a:p>
            <a:pPr marL="228594" indent="-228594" defTabSz="914377" fontAlgn="auto">
              <a:spcAft>
                <a:spcPts val="0"/>
              </a:spcAft>
              <a:buFont typeface="Arial"/>
              <a:buChar char="•"/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Simulation</a:t>
            </a:r>
          </a:p>
        </p:txBody>
      </p:sp>
      <p:sp>
        <p:nvSpPr>
          <p:cNvPr id="3584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No Simulation this week</a:t>
            </a:r>
          </a:p>
          <a:p>
            <a:pPr lvl="1"/>
            <a:r>
              <a:rPr lang="en-US">
                <a:latin typeface="Arial" charset="0"/>
                <a:cs typeface="Arial" charset="0"/>
              </a:rPr>
              <a:t>Unusual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Synthesis</a:t>
            </a:r>
          </a:p>
        </p:txBody>
      </p:sp>
      <p:sp>
        <p:nvSpPr>
          <p:cNvPr id="3789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Use the Cyclone V GX User Guide to find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Seven Segment </a:t>
            </a:r>
          </a:p>
          <a:p>
            <a:pPr lvl="2"/>
            <a:r>
              <a:rPr lang="en-US" dirty="0">
                <a:latin typeface="Arial" charset="0"/>
                <a:cs typeface="Arial" charset="0"/>
              </a:rPr>
              <a:t>Player 1 and Player 2 Throw</a:t>
            </a:r>
          </a:p>
          <a:p>
            <a:pPr lvl="2"/>
            <a:r>
              <a:rPr lang="en-US" dirty="0">
                <a:latin typeface="Arial" charset="0"/>
                <a:cs typeface="Arial" charset="0"/>
              </a:rPr>
              <a:t>Win Loose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Button</a:t>
            </a:r>
          </a:p>
          <a:p>
            <a:pPr lvl="2"/>
            <a:r>
              <a:rPr lang="en-US" dirty="0">
                <a:latin typeface="Arial" charset="0"/>
                <a:cs typeface="Arial" charset="0"/>
              </a:rPr>
              <a:t>Play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Slide Switch</a:t>
            </a:r>
          </a:p>
          <a:p>
            <a:pPr lvl="2"/>
            <a:r>
              <a:rPr lang="en-US" dirty="0">
                <a:latin typeface="Arial" charset="0"/>
                <a:cs typeface="Arial" charset="0"/>
              </a:rPr>
              <a:t>Player 1 and Player 2 Throw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Deliverables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>
          <a:xfrm>
            <a:off x="838200" y="1948043"/>
            <a:ext cx="9729788" cy="4133491"/>
          </a:xfrm>
        </p:spPr>
        <p:txBody>
          <a:bodyPr lIns="0" tIns="0" rIns="0" bIns="39675" rtlCol="0" anchor="ctr">
            <a:spAutoFit/>
          </a:bodyPr>
          <a:lstStyle>
            <a:lvl1pPr indent="4603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defTabSz="914400">
              <a:lnSpc>
                <a:spcPct val="100000"/>
              </a:lnSpc>
              <a:buFontTx/>
              <a:buNone/>
              <a:defRPr/>
            </a:pPr>
            <a:r>
              <a:rPr lang="en-US" altLang="en-US" sz="1400" b="1" dirty="0" err="1">
                <a:solidFill>
                  <a:srgbClr val="000000"/>
                </a:solidFill>
                <a:ea typeface="Cambria" panose="02040503050406030204" pitchFamily="18" charset="0"/>
                <a:cs typeface="Cambria" panose="02040503050406030204" pitchFamily="18" charset="0"/>
              </a:rPr>
              <a:t>onesToDense</a:t>
            </a:r>
            <a:r>
              <a:rPr lang="en-US" altLang="en-US" sz="1400" b="1" dirty="0">
                <a:solidFill>
                  <a:srgbClr val="000000"/>
                </a:solidFill>
                <a:ea typeface="Cambria" panose="02040503050406030204" pitchFamily="18" charset="0"/>
                <a:cs typeface="Cambria" panose="02040503050406030204" pitchFamily="18" charset="0"/>
              </a:rPr>
              <a:t> Module:</a:t>
            </a:r>
          </a:p>
          <a:p>
            <a:pPr marL="0" defTabSz="914400">
              <a:lnSpc>
                <a:spcPct val="100000"/>
              </a:lnSpc>
              <a:buFontTx/>
              <a:buNone/>
              <a:defRPr/>
            </a:pPr>
            <a:r>
              <a:rPr lang="en-US" altLang="en-US" sz="1400" b="1" dirty="0">
                <a:solidFill>
                  <a:srgbClr val="000000"/>
                </a:solidFill>
                <a:ea typeface="Cambria" panose="02040503050406030204" pitchFamily="18" charset="0"/>
                <a:cs typeface="Cambria" panose="02040503050406030204" pitchFamily="18" charset="0"/>
              </a:rPr>
              <a:t>	</a:t>
            </a:r>
            <a:r>
              <a:rPr lang="en-US" altLang="en-US" sz="1400" dirty="0">
                <a:solidFill>
                  <a:srgbClr val="000000"/>
                </a:solidFill>
                <a:ea typeface="Cambria" panose="02040503050406030204" pitchFamily="18" charset="0"/>
                <a:cs typeface="Cambria" panose="02040503050406030204" pitchFamily="18" charset="0"/>
              </a:rPr>
              <a:t>Complete Table 3.2 truth table for </a:t>
            </a:r>
            <a:r>
              <a:rPr lang="en-US" altLang="en-US" sz="1400" dirty="0" err="1">
                <a:solidFill>
                  <a:srgbClr val="000000"/>
                </a:solidFill>
                <a:ea typeface="Cambria" panose="02040503050406030204" pitchFamily="18" charset="0"/>
                <a:cs typeface="Cambria" panose="02040503050406030204" pitchFamily="18" charset="0"/>
              </a:rPr>
              <a:t>oneToDense</a:t>
            </a:r>
            <a:r>
              <a:rPr lang="en-US" altLang="en-US" sz="1400" dirty="0">
                <a:solidFill>
                  <a:srgbClr val="000000"/>
                </a:solidFill>
                <a:ea typeface="Cambria" panose="02040503050406030204" pitchFamily="18" charset="0"/>
                <a:cs typeface="Cambria" panose="02040503050406030204" pitchFamily="18" charset="0"/>
              </a:rPr>
              <a:t> module</a:t>
            </a:r>
            <a:endParaRPr lang="en-US" altLang="en-US" sz="1400" dirty="0"/>
          </a:p>
          <a:p>
            <a:pPr marL="0" defTabSz="914400">
              <a:lnSpc>
                <a:spcPct val="100000"/>
              </a:lnSpc>
              <a:buFontTx/>
              <a:buNone/>
              <a:defRPr/>
            </a:pPr>
            <a:r>
              <a:rPr lang="en-US" altLang="en-US" sz="1400" dirty="0">
                <a:solidFill>
                  <a:srgbClr val="000000"/>
                </a:solidFill>
                <a:ea typeface="Cambria" panose="02040503050406030204" pitchFamily="18" charset="0"/>
                <a:cs typeface="Cambria" panose="02040503050406030204" pitchFamily="18" charset="0"/>
              </a:rPr>
              <a:t>	Canonical SOP expressions for the </a:t>
            </a:r>
            <a:r>
              <a:rPr lang="en-US" altLang="en-US" sz="1400" dirty="0">
                <a:solidFill>
                  <a:srgbClr val="000000"/>
                </a:solidFill>
                <a:latin typeface="Courier New" panose="02070309020205020404" pitchFamily="49" charset="0"/>
                <a:ea typeface="Cambria" panose="02040503050406030204" pitchFamily="18" charset="0"/>
                <a:cs typeface="Courier New" panose="02070309020205020404" pitchFamily="49" charset="0"/>
              </a:rPr>
              <a:t>play[1]</a:t>
            </a:r>
            <a:r>
              <a:rPr lang="en-US" altLang="en-US" sz="1400" dirty="0">
                <a:solidFill>
                  <a:srgbClr val="000000"/>
                </a:solidFill>
                <a:ea typeface="Cambria" panose="02040503050406030204" pitchFamily="18" charset="0"/>
                <a:cs typeface="Cambria" panose="02040503050406030204" pitchFamily="18" charset="0"/>
              </a:rPr>
              <a:t> and </a:t>
            </a:r>
            <a:r>
              <a:rPr lang="en-US" altLang="en-US" sz="1400" dirty="0">
                <a:solidFill>
                  <a:srgbClr val="000000"/>
                </a:solidFill>
                <a:latin typeface="Courier New" panose="02070309020205020404" pitchFamily="49" charset="0"/>
                <a:ea typeface="Cambria" panose="02040503050406030204" pitchFamily="18" charset="0"/>
                <a:cs typeface="Courier New" panose="02070309020205020404" pitchFamily="49" charset="0"/>
              </a:rPr>
              <a:t>play[0]</a:t>
            </a:r>
            <a:r>
              <a:rPr lang="en-US" altLang="en-US" sz="1400" dirty="0">
                <a:solidFill>
                  <a:srgbClr val="000000"/>
                </a:solidFill>
                <a:ea typeface="Cambria" panose="02040503050406030204" pitchFamily="18" charset="0"/>
                <a:cs typeface="Cambria" panose="02040503050406030204" pitchFamily="18" charset="0"/>
              </a:rPr>
              <a:t> functions</a:t>
            </a:r>
            <a:endParaRPr lang="en-US" altLang="en-US" sz="1400" dirty="0"/>
          </a:p>
          <a:p>
            <a:pPr marL="0" defTabSz="914400">
              <a:lnSpc>
                <a:spcPct val="100000"/>
              </a:lnSpc>
              <a:buFontTx/>
              <a:buNone/>
              <a:defRPr/>
            </a:pPr>
            <a:r>
              <a:rPr lang="en-US" altLang="en-US" sz="1400" dirty="0">
                <a:solidFill>
                  <a:srgbClr val="000000"/>
                </a:solidFill>
                <a:ea typeface="Cambria" panose="02040503050406030204" pitchFamily="18" charset="0"/>
                <a:cs typeface="Cambria" panose="02040503050406030204" pitchFamily="18" charset="0"/>
              </a:rPr>
              <a:t>	Verilog code for the entire module (courier 8-point font single spaced), leave out header comments.</a:t>
            </a:r>
            <a:endParaRPr lang="en-US" altLang="en-US" sz="1400" dirty="0"/>
          </a:p>
          <a:p>
            <a:pPr marL="0" defTabSz="914400">
              <a:lnSpc>
                <a:spcPct val="100000"/>
              </a:lnSpc>
              <a:buFontTx/>
              <a:buNone/>
              <a:defRPr/>
            </a:pPr>
            <a:endParaRPr lang="en-US" altLang="en-US" sz="1400" b="1" dirty="0">
              <a:solidFill>
                <a:srgbClr val="000000"/>
              </a:solidFill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0" defTabSz="914400">
              <a:lnSpc>
                <a:spcPct val="100000"/>
              </a:lnSpc>
              <a:buFontTx/>
              <a:buNone/>
              <a:defRPr/>
            </a:pPr>
            <a:r>
              <a:rPr lang="en-US" altLang="en-US" sz="1400" b="1" dirty="0" err="1">
                <a:solidFill>
                  <a:srgbClr val="000000"/>
                </a:solidFill>
                <a:ea typeface="Cambria" panose="02040503050406030204" pitchFamily="18" charset="0"/>
                <a:cs typeface="Cambria" panose="02040503050406030204" pitchFamily="18" charset="0"/>
              </a:rPr>
              <a:t>playToSeven</a:t>
            </a:r>
            <a:r>
              <a:rPr lang="en-US" altLang="en-US" sz="1400" b="1" dirty="0">
                <a:solidFill>
                  <a:srgbClr val="000000"/>
                </a:solidFill>
                <a:ea typeface="Cambria" panose="02040503050406030204" pitchFamily="18" charset="0"/>
                <a:cs typeface="Cambria" panose="02040503050406030204" pitchFamily="18" charset="0"/>
              </a:rPr>
              <a:t> Module:</a:t>
            </a:r>
          </a:p>
          <a:p>
            <a:pPr marL="0" defTabSz="914400">
              <a:lnSpc>
                <a:spcPct val="100000"/>
              </a:lnSpc>
              <a:buFontTx/>
              <a:buNone/>
              <a:defRPr/>
            </a:pPr>
            <a:r>
              <a:rPr lang="en-US" altLang="en-US" sz="1400" dirty="0">
                <a:solidFill>
                  <a:srgbClr val="000000"/>
                </a:solidFill>
                <a:ea typeface="Cambria" panose="02040503050406030204" pitchFamily="18" charset="0"/>
                <a:cs typeface="Cambria" panose="02040503050406030204" pitchFamily="18" charset="0"/>
              </a:rPr>
              <a:t>	Complete Table 3.3</a:t>
            </a:r>
            <a:endParaRPr lang="en-US" altLang="en-US" sz="1400" dirty="0"/>
          </a:p>
          <a:p>
            <a:pPr marL="0" defTabSz="914400">
              <a:lnSpc>
                <a:spcPct val="100000"/>
              </a:lnSpc>
              <a:buFontTx/>
              <a:buNone/>
              <a:defRPr/>
            </a:pPr>
            <a:r>
              <a:rPr lang="en-US" altLang="en-US" sz="1400" dirty="0">
                <a:solidFill>
                  <a:srgbClr val="000000"/>
                </a:solidFill>
                <a:ea typeface="Cambria" panose="02040503050406030204" pitchFamily="18" charset="0"/>
                <a:cs typeface="Cambria" panose="02040503050406030204" pitchFamily="18" charset="0"/>
              </a:rPr>
              <a:t>	Verilog code for the module (courier 8-point font single spaced), leave out header comments.</a:t>
            </a:r>
            <a:endParaRPr lang="en-US" altLang="en-US" sz="1400" dirty="0"/>
          </a:p>
          <a:p>
            <a:pPr marL="0" defTabSz="914400">
              <a:lnSpc>
                <a:spcPct val="100000"/>
              </a:lnSpc>
              <a:buFontTx/>
              <a:buNone/>
              <a:defRPr/>
            </a:pPr>
            <a:r>
              <a:rPr lang="en-US" altLang="en-US" sz="1400" dirty="0">
                <a:solidFill>
                  <a:srgbClr val="000000"/>
                </a:solidFill>
                <a:ea typeface="Cambria" panose="02040503050406030204" pitchFamily="18" charset="0"/>
                <a:cs typeface="Cambria" panose="02040503050406030204" pitchFamily="18" charset="0"/>
              </a:rPr>
              <a:t>				</a:t>
            </a:r>
            <a:endParaRPr lang="en-US" altLang="en-US" sz="1400" b="1" dirty="0">
              <a:solidFill>
                <a:srgbClr val="000000"/>
              </a:solidFill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0" defTabSz="914400">
              <a:lnSpc>
                <a:spcPct val="100000"/>
              </a:lnSpc>
              <a:buFontTx/>
              <a:buNone/>
              <a:defRPr/>
            </a:pPr>
            <a:r>
              <a:rPr lang="en-US" altLang="en-US" sz="1400" b="1" dirty="0" err="1">
                <a:solidFill>
                  <a:srgbClr val="000000"/>
                </a:solidFill>
                <a:ea typeface="Cambria" panose="02040503050406030204" pitchFamily="18" charset="0"/>
                <a:cs typeface="Cambria" panose="02040503050406030204" pitchFamily="18" charset="0"/>
              </a:rPr>
              <a:t>winLose</a:t>
            </a:r>
            <a:r>
              <a:rPr lang="en-US" altLang="en-US" sz="1400" b="1" dirty="0">
                <a:solidFill>
                  <a:srgbClr val="000000"/>
                </a:solidFill>
                <a:ea typeface="Cambria" panose="02040503050406030204" pitchFamily="18" charset="0"/>
                <a:cs typeface="Cambria" panose="02040503050406030204" pitchFamily="18" charset="0"/>
              </a:rPr>
              <a:t> Module:</a:t>
            </a:r>
          </a:p>
          <a:p>
            <a:pPr marL="0" defTabSz="914400">
              <a:lnSpc>
                <a:spcPct val="100000"/>
              </a:lnSpc>
              <a:buFontTx/>
              <a:buNone/>
              <a:defRPr/>
            </a:pPr>
            <a:r>
              <a:rPr lang="en-US" altLang="en-US" sz="1400" dirty="0">
                <a:solidFill>
                  <a:srgbClr val="000000"/>
                </a:solidFill>
                <a:ea typeface="Cambria" panose="02040503050406030204" pitchFamily="18" charset="0"/>
                <a:cs typeface="Cambria" panose="02040503050406030204" pitchFamily="18" charset="0"/>
              </a:rPr>
              <a:t>	Complete Table 3.4 truth table for </a:t>
            </a:r>
            <a:r>
              <a:rPr lang="en-US" altLang="en-US" sz="1400" dirty="0" err="1">
                <a:solidFill>
                  <a:srgbClr val="000000"/>
                </a:solidFill>
                <a:ea typeface="Cambria" panose="02040503050406030204" pitchFamily="18" charset="0"/>
                <a:cs typeface="Cambria" panose="02040503050406030204" pitchFamily="18" charset="0"/>
              </a:rPr>
              <a:t>winLose</a:t>
            </a:r>
            <a:r>
              <a:rPr lang="en-US" altLang="en-US" sz="1400" dirty="0">
                <a:solidFill>
                  <a:srgbClr val="000000"/>
                </a:solidFill>
                <a:ea typeface="Cambria" panose="02040503050406030204" pitchFamily="18" charset="0"/>
                <a:cs typeface="Cambria" panose="02040503050406030204" pitchFamily="18" charset="0"/>
              </a:rPr>
              <a:t> module</a:t>
            </a:r>
            <a:endParaRPr lang="en-US" altLang="en-US" sz="1400" dirty="0"/>
          </a:p>
          <a:p>
            <a:pPr marL="0" defTabSz="914400">
              <a:lnSpc>
                <a:spcPct val="100000"/>
              </a:lnSpc>
              <a:buFontTx/>
              <a:buNone/>
              <a:defRPr/>
            </a:pPr>
            <a:r>
              <a:rPr lang="en-US" altLang="en-US" sz="1400" dirty="0">
                <a:solidFill>
                  <a:srgbClr val="000000"/>
                </a:solidFill>
                <a:ea typeface="Cambria" panose="02040503050406030204" pitchFamily="18" charset="0"/>
                <a:cs typeface="Cambria" panose="02040503050406030204" pitchFamily="18" charset="0"/>
              </a:rPr>
              <a:t>	Verilog code for the module (courier 8-point font single spaced) , leave out header comments.</a:t>
            </a:r>
            <a:endParaRPr lang="en-US" altLang="en-US" sz="1400" dirty="0"/>
          </a:p>
          <a:p>
            <a:pPr marL="0" defTabSz="914400">
              <a:lnSpc>
                <a:spcPct val="100000"/>
              </a:lnSpc>
              <a:buFontTx/>
              <a:buNone/>
              <a:defRPr/>
            </a:pPr>
            <a:endParaRPr lang="en-US" altLang="en-US" sz="1400" b="1" dirty="0">
              <a:solidFill>
                <a:srgbClr val="000000"/>
              </a:solidFill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0" defTabSz="914400">
              <a:lnSpc>
                <a:spcPct val="100000"/>
              </a:lnSpc>
              <a:buFontTx/>
              <a:buNone/>
              <a:defRPr/>
            </a:pPr>
            <a:r>
              <a:rPr lang="en-US" altLang="en-US" sz="1400" b="1" dirty="0" err="1">
                <a:solidFill>
                  <a:srgbClr val="000000"/>
                </a:solidFill>
                <a:ea typeface="Cambria" panose="02040503050406030204" pitchFamily="18" charset="0"/>
                <a:cs typeface="Cambria" panose="02040503050406030204" pitchFamily="18" charset="0"/>
              </a:rPr>
              <a:t>rpsGame</a:t>
            </a:r>
            <a:r>
              <a:rPr lang="en-US" altLang="en-US" sz="1400" b="1" dirty="0">
                <a:solidFill>
                  <a:srgbClr val="000000"/>
                </a:solidFill>
                <a:ea typeface="Cambria" panose="02040503050406030204" pitchFamily="18" charset="0"/>
                <a:cs typeface="Cambria" panose="02040503050406030204" pitchFamily="18" charset="0"/>
              </a:rPr>
              <a:t> Module:</a:t>
            </a:r>
          </a:p>
          <a:p>
            <a:pPr marL="0" defTabSz="914400">
              <a:lnSpc>
                <a:spcPct val="100000"/>
              </a:lnSpc>
              <a:buFontTx/>
              <a:buNone/>
              <a:defRPr/>
            </a:pPr>
            <a:r>
              <a:rPr lang="en-US" altLang="en-US" sz="1400" dirty="0">
                <a:solidFill>
                  <a:srgbClr val="000000"/>
                </a:solidFill>
                <a:ea typeface="Cambria" panose="02040503050406030204" pitchFamily="18" charset="0"/>
                <a:cs typeface="Cambria" panose="02040503050406030204" pitchFamily="18" charset="0"/>
              </a:rPr>
              <a:t>	Verilog code for the module (courier 8-point font single spaced) ,leave out header comments.</a:t>
            </a:r>
          </a:p>
          <a:p>
            <a:pPr marL="0" defTabSz="914400">
              <a:lnSpc>
                <a:spcPct val="100000"/>
              </a:lnSpc>
              <a:buFontTx/>
              <a:buNone/>
              <a:defRPr/>
            </a:pPr>
            <a:endParaRPr lang="en-US" altLang="en-US" sz="1400" b="1" dirty="0">
              <a:solidFill>
                <a:srgbClr val="000000"/>
              </a:solidFill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0" defTabSz="914400">
              <a:lnSpc>
                <a:spcPct val="100000"/>
              </a:lnSpc>
              <a:buFontTx/>
              <a:buNone/>
              <a:defRPr/>
            </a:pPr>
            <a:r>
              <a:rPr lang="en-US" altLang="en-US" sz="1400" b="1" dirty="0">
                <a:solidFill>
                  <a:srgbClr val="000000"/>
                </a:solidFill>
                <a:ea typeface="Cambria" panose="02040503050406030204" pitchFamily="18" charset="0"/>
                <a:cs typeface="Cambria" panose="02040503050406030204" pitchFamily="18" charset="0"/>
              </a:rPr>
              <a:t>Pin Assignment:</a:t>
            </a:r>
          </a:p>
          <a:p>
            <a:pPr marL="0" indent="0" defTabSz="914400">
              <a:lnSpc>
                <a:spcPct val="100000"/>
              </a:lnSpc>
              <a:buFontTx/>
              <a:buNone/>
              <a:defRPr/>
            </a:pPr>
            <a:r>
              <a:rPr lang="en-US" altLang="en-US" sz="1400" dirty="0">
                <a:solidFill>
                  <a:srgbClr val="000000"/>
                </a:solidFill>
                <a:ea typeface="Cambria" panose="02040503050406030204" pitchFamily="18" charset="0"/>
                <a:cs typeface="Cambria" panose="02040503050406030204" pitchFamily="18" charset="0"/>
              </a:rPr>
              <a:t>	Completed pin assignment table for 7-segment, slide switches and button.</a:t>
            </a:r>
          </a:p>
          <a:p>
            <a:pPr marL="0" indent="0" defTabSz="914400">
              <a:lnSpc>
                <a:spcPct val="100000"/>
              </a:lnSpc>
              <a:buFontTx/>
              <a:buNone/>
              <a:defRPr/>
            </a:pPr>
            <a:r>
              <a:rPr lang="en-US" altLang="en-US" sz="1400" dirty="0">
                <a:solidFill>
                  <a:srgbClr val="000000"/>
                </a:solidFill>
                <a:ea typeface="Cambria" panose="02040503050406030204" pitchFamily="18" charset="0"/>
              </a:rPr>
              <a:t>	Demonstrate your working design to a </a:t>
            </a:r>
            <a:r>
              <a:rPr lang="en-US" altLang="en-US" sz="1400">
                <a:solidFill>
                  <a:srgbClr val="000000"/>
                </a:solidFill>
                <a:ea typeface="Cambria" panose="02040503050406030204" pitchFamily="18" charset="0"/>
              </a:rPr>
              <a:t>lab team member. </a:t>
            </a:r>
            <a:endParaRPr lang="en-US" alt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0CA56346D718341AD6F7BE32044DEA3" ma:contentTypeVersion="3" ma:contentTypeDescription="Create a new document." ma:contentTypeScope="" ma:versionID="291df287ff1ec43df0b312dda8e1454e">
  <xsd:schema xmlns:xsd="http://www.w3.org/2001/XMLSchema" xmlns:xs="http://www.w3.org/2001/XMLSchema" xmlns:p="http://schemas.microsoft.com/office/2006/metadata/properties" xmlns:ns2="e54ece5e-ea3e-475a-a07c-9da9db720c35" targetNamespace="http://schemas.microsoft.com/office/2006/metadata/properties" ma:root="true" ma:fieldsID="2af1a4df17c9c95860ef326849b47e11" ns2:_="">
    <xsd:import namespace="e54ece5e-ea3e-475a-a07c-9da9db720c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4ece5e-ea3e-475a-a07c-9da9db720c3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831CDF3-DBF6-4504-AF2B-E732B2288276}"/>
</file>

<file path=customXml/itemProps2.xml><?xml version="1.0" encoding="utf-8"?>
<ds:datastoreItem xmlns:ds="http://schemas.openxmlformats.org/officeDocument/2006/customXml" ds:itemID="{0E8D431E-A7C2-4937-8554-E13B33C3BA96}"/>
</file>

<file path=customXml/itemProps3.xml><?xml version="1.0" encoding="utf-8"?>
<ds:datastoreItem xmlns:ds="http://schemas.openxmlformats.org/officeDocument/2006/customXml" ds:itemID="{15BE6D1B-6175-4D19-B446-35A56B21D87F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3376</TotalTime>
  <Words>486</Words>
  <Application>Microsoft Office PowerPoint</Application>
  <PresentationFormat>Widescreen</PresentationFormat>
  <Paragraphs>89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Gotham</vt:lpstr>
      <vt:lpstr>Gotham Book</vt:lpstr>
      <vt:lpstr>Office Theme</vt:lpstr>
      <vt:lpstr>EENG 284 Lab 3</vt:lpstr>
      <vt:lpstr>Lab Objectives</vt:lpstr>
      <vt:lpstr>Rock Paper Scissors – the game</vt:lpstr>
      <vt:lpstr>Input, Output Behavior</vt:lpstr>
      <vt:lpstr>System architecture</vt:lpstr>
      <vt:lpstr>oneToDense Module</vt:lpstr>
      <vt:lpstr>playToSevenSeg Module</vt:lpstr>
      <vt:lpstr>winLose Module</vt:lpstr>
      <vt:lpstr>rpsGame Module</vt:lpstr>
      <vt:lpstr>Simulation</vt:lpstr>
      <vt:lpstr>Synthesis</vt:lpstr>
      <vt:lpstr>Deliverables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Microsoft Office User</dc:creator>
  <cp:keywords/>
  <dc:description/>
  <cp:lastModifiedBy>Prachi Sharma</cp:lastModifiedBy>
  <cp:revision>90</cp:revision>
  <dcterms:created xsi:type="dcterms:W3CDTF">2017-08-01T15:06:47Z</dcterms:created>
  <dcterms:modified xsi:type="dcterms:W3CDTF">2025-09-23T00:24:51Z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0x010100B0CA56346D718341AD6F7BE32044DEA3</vt:lpwstr>
  </property>
</Properties>
</file>