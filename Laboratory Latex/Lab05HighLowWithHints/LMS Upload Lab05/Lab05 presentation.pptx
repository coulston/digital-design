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handoutMasters/handoutMaster1.xml" ContentType="application/vnd.openxmlformats-officedocument.presentationml.handoutMaster+xml"/>
  <Override PartName="/ppt/theme/theme3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2" r:id="rId2"/>
    <p:sldId id="538" r:id="rId3"/>
    <p:sldId id="557" r:id="rId4"/>
    <p:sldId id="638" r:id="rId5"/>
    <p:sldId id="593" r:id="rId6"/>
    <p:sldId id="635" r:id="rId7"/>
    <p:sldId id="636" r:id="rId8"/>
    <p:sldId id="62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14D"/>
    <a:srgbClr val="263F6A"/>
    <a:srgbClr val="8B8D8E"/>
    <a:srgbClr val="CED5DD"/>
    <a:srgbClr val="B2B4B3"/>
    <a:srgbClr val="DD5F36"/>
    <a:srgbClr val="D2492A"/>
    <a:srgbClr val="92A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90960" autoAdjust="0"/>
  </p:normalViewPr>
  <p:slideViewPr>
    <p:cSldViewPr snapToGrid="0" snapToObjects="1">
      <p:cViewPr>
        <p:scale>
          <a:sx n="102" d="100"/>
          <a:sy n="102" d="100"/>
        </p:scale>
        <p:origin x="211" y="-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68" d="100"/>
          <a:sy n="168" d="100"/>
        </p:scale>
        <p:origin x="3688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DD5C9C-88A3-CA43-B162-DCC4E1E4BE7D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5FE5E8-0999-F94A-9937-3F8545B104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9103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5E4000-89B6-4F22-834E-B172C4AA57D1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C4D68-66B1-48D6-AAFD-4ABFAB720F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920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the &lt;title of the lab&gt; is what will be called the “System” through the rest of this document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11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45CC39-578B-4552-A24A-45E58858BC64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47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&lt;System&gt; with the name of the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950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98463" y="696913"/>
            <a:ext cx="6188075" cy="34813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Talk about the input is transformed into the output using the system architecture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45CC39-578B-4552-A24A-45E58858BC6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6853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5980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C4D68-66B1-48D6-AAFD-4ABFAB720F6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580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170978"/>
            <a:ext cx="10356915" cy="582576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F55106-BA85-A046-A450-43480962F8F7}"/>
              </a:ext>
            </a:extLst>
          </p:cNvPr>
          <p:cNvSpPr/>
          <p:nvPr userDrawn="1"/>
        </p:nvSpPr>
        <p:spPr>
          <a:xfrm>
            <a:off x="-34047" y="0"/>
            <a:ext cx="12260094" cy="6265544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520878" y="3287006"/>
            <a:ext cx="911199" cy="0"/>
          </a:xfrm>
          <a:prstGeom prst="line">
            <a:avLst/>
          </a:prstGeom>
          <a:ln w="28575">
            <a:solidFill>
              <a:srgbClr val="D249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08E7ABF0-DEE6-F34C-98A7-7FC5808DF58A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 bwMode="auto">
          <a:xfrm>
            <a:off x="381000" y="6373243"/>
            <a:ext cx="3200400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8B3FD82-CB41-C84B-B706-06F09C4B7CF1}"/>
              </a:ext>
            </a:extLst>
          </p:cNvPr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395371" y="3737295"/>
            <a:ext cx="9144000" cy="1655762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Subhead, name or date goes here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3429AB2-51CA-D34A-933D-348196C30A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170976"/>
            <a:ext cx="10356915" cy="5825765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ctrTitle"/>
          </p:nvPr>
        </p:nvSpPr>
        <p:spPr>
          <a:xfrm>
            <a:off x="395371" y="2243579"/>
            <a:ext cx="10803672" cy="719056"/>
          </a:xfrm>
        </p:spPr>
        <p:txBody>
          <a:bodyPr>
            <a:normAutofit/>
          </a:bodyPr>
          <a:lstStyle>
            <a:lvl1pPr>
              <a:defRPr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sz="5400" dirty="0">
                <a:solidFill>
                  <a:schemeClr val="bg1"/>
                </a:solidFill>
              </a:rPr>
              <a:t>Presentation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608327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9728" y="-9729"/>
            <a:ext cx="12201728" cy="626554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4400"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header goes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 b="0" i="0">
                <a:solidFill>
                  <a:srgbClr val="92A2BD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subhead goes here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BC71D-0003-024E-9F29-71C949747F4A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0" y="6373243"/>
            <a:ext cx="3200400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715021-AF61-AF4F-9B48-1343FD8CB059}"/>
              </a:ext>
            </a:extLst>
          </p:cNvPr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</p:spTree>
    <p:extLst>
      <p:ext uri="{BB962C8B-B14F-4D97-AF65-F5344CB8AC3E}">
        <p14:creationId xmlns:p14="http://schemas.microsoft.com/office/powerpoint/2010/main" val="15936876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-9728" y="6265545"/>
            <a:ext cx="1220172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C7278D-9F84-1645-9C4A-4B5FD9D68954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36334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729617-3EE6-934F-B272-92B6163ABCA3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977242-14B3-B24E-8B0C-44E4362EFCBD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1851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053E08-80AB-B043-979E-87B7A1E7EB21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2B57081-B141-9B4E-9482-F401745054EE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1879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A0EA07-1225-FE4C-917E-74A024F5E428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3F1F743-16CE-3043-9E24-77715B0645DA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115906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2"/>
          <p:cNvSpPr txBox="1">
            <a:spLocks/>
          </p:cNvSpPr>
          <p:nvPr userDrawn="1"/>
        </p:nvSpPr>
        <p:spPr>
          <a:xfrm>
            <a:off x="838202" y="5746528"/>
            <a:ext cx="13016751" cy="779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rgbClr val="21314D"/>
                </a:solidFill>
                <a:latin typeface="Gotham Medium" charset="0"/>
                <a:ea typeface="Gotham Medium" charset="0"/>
                <a:cs typeface="Gotham Medium" charset="0"/>
              </a:defRPr>
            </a:lvl1pPr>
          </a:lstStyle>
          <a:p>
            <a:r>
              <a:rPr lang="en-US" sz="4400" b="1" i="0" dirty="0">
                <a:latin typeface="Arial" panose="020B0604020202020204" pitchFamily="34" charset="0"/>
                <a:cs typeface="Arial" panose="020B0604020202020204" pitchFamily="34" charset="0"/>
              </a:rPr>
              <a:t>Headline Copy Goes Here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57703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9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-10048" y="-10048"/>
            <a:ext cx="12202048" cy="6868048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35085" y="552941"/>
            <a:ext cx="10356915" cy="5825765"/>
          </a:xfrm>
          <a:prstGeom prst="rect">
            <a:avLst/>
          </a:prstGeom>
        </p:spPr>
      </p:pic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046399" y="2531096"/>
            <a:ext cx="9144000" cy="1655762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“Quote goes here.”</a:t>
            </a:r>
          </a:p>
        </p:txBody>
      </p:sp>
    </p:spTree>
    <p:extLst>
      <p:ext uri="{BB962C8B-B14F-4D97-AF65-F5344CB8AC3E}">
        <p14:creationId xmlns:p14="http://schemas.microsoft.com/office/powerpoint/2010/main" val="224394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7060252" y="982464"/>
            <a:ext cx="4862405" cy="1794085"/>
          </a:xfrm>
        </p:spPr>
        <p:txBody>
          <a:bodyPr/>
          <a:lstStyle/>
          <a:p>
            <a:r>
              <a:rPr lang="en-US" dirty="0"/>
              <a:t>Headline Copy Goes Here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7060253" y="3052261"/>
            <a:ext cx="4862404" cy="1975926"/>
          </a:xfrm>
        </p:spPr>
        <p:txBody>
          <a:bodyPr/>
          <a:lstStyle/>
          <a:p>
            <a:r>
              <a:rPr lang="en-US" dirty="0"/>
              <a:t>Click to add text</a:t>
            </a:r>
          </a:p>
          <a:p>
            <a:r>
              <a:rPr lang="en-US" dirty="0"/>
              <a:t>Click to add text</a:t>
            </a:r>
          </a:p>
        </p:txBody>
      </p:sp>
      <p:sp>
        <p:nvSpPr>
          <p:cNvPr id="6" name="Picture Placeholder 2"/>
          <p:cNvSpPr>
            <a:spLocks noGrp="1"/>
          </p:cNvSpPr>
          <p:nvPr>
            <p:ph type="pic" idx="10"/>
          </p:nvPr>
        </p:nvSpPr>
        <p:spPr>
          <a:xfrm>
            <a:off x="0" y="3"/>
            <a:ext cx="6890995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7478040" y="6407925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rgbClr val="21314D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</p:spTree>
    <p:extLst>
      <p:ext uri="{BB962C8B-B14F-4D97-AF65-F5344CB8AC3E}">
        <p14:creationId xmlns:p14="http://schemas.microsoft.com/office/powerpoint/2010/main" val="53956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9728" y="6265545"/>
            <a:ext cx="12201728" cy="592455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816478-27A8-5948-917C-6E6357F4BB0B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30F95D-C0F7-B448-B59E-D27295E0C7A5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581501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10048" y="-10049"/>
            <a:ext cx="5183189" cy="6943412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0058" y="472281"/>
            <a:ext cx="3932237" cy="160020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Copy goes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9" y="2"/>
            <a:ext cx="7008812" cy="685799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50058" y="2072481"/>
            <a:ext cx="3932237" cy="3811588"/>
          </a:xfrm>
        </p:spPr>
        <p:txBody>
          <a:bodyPr>
            <a:normAutofit/>
          </a:bodyPr>
          <a:lstStyle>
            <a:lvl1pPr marL="457189" indent="-457189">
              <a:buFont typeface="Arial" charset="0"/>
              <a:buChar char="•"/>
              <a:defRPr sz="2800">
                <a:solidFill>
                  <a:schemeClr val="bg1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Supporting text goes here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01F5E0A-84A7-2F4C-A9C5-069A0CC392D2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885166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0048" y="6265545"/>
            <a:ext cx="1220204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529638-9519-5646-BC6C-4C995584BC00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2467B4F-5A8F-3845-8B30-98B83A0003A1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676384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21314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8923E60E-3077-9A4D-B784-FBCD6B1A2E3F}" type="datetimeFigureOut">
              <a:rPr lang="en-US" smtClean="0"/>
              <a:t>10/13/2025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FAA3E255-DCE9-1E4B-905B-DD6A887BD48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0048" y="6265545"/>
            <a:ext cx="12202048" cy="601701"/>
          </a:xfrm>
          <a:prstGeom prst="rect">
            <a:avLst/>
          </a:prstGeom>
          <a:solidFill>
            <a:srgbClr val="21314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6899B-D311-B446-8DBB-7D61E82846C1}"/>
              </a:ext>
            </a:extLst>
          </p:cNvPr>
          <p:cNvSpPr txBox="1"/>
          <p:nvPr userDrawn="1"/>
        </p:nvSpPr>
        <p:spPr>
          <a:xfrm>
            <a:off x="7478040" y="6398498"/>
            <a:ext cx="4489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b="1" i="0" dirty="0">
                <a:solidFill>
                  <a:schemeClr val="bg1"/>
                </a:solidFill>
                <a:latin typeface="Gotham" charset="0"/>
                <a:ea typeface="Gotham" charset="0"/>
                <a:cs typeface="Gotham" charset="0"/>
              </a:rPr>
              <a:t>MINES</a:t>
            </a:r>
            <a:r>
              <a:rPr lang="en-US" sz="1800" b="1" i="0" dirty="0">
                <a:solidFill>
                  <a:srgbClr val="D2492A"/>
                </a:solidFill>
                <a:latin typeface="Gotham" charset="0"/>
                <a:ea typeface="Gotham" charset="0"/>
                <a:cs typeface="Gotham" charset="0"/>
              </a:rPr>
              <a:t>.</a:t>
            </a:r>
            <a:r>
              <a:rPr lang="en-US" sz="1800" b="0" i="0" dirty="0">
                <a:solidFill>
                  <a:srgbClr val="92A2BD"/>
                </a:solidFill>
                <a:latin typeface="Gotham Book" charset="0"/>
                <a:ea typeface="Gotham Book" charset="0"/>
                <a:cs typeface="Gotham Book" charset="0"/>
              </a:rPr>
              <a:t>EDU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4CB1FB3-2557-BB46-9386-C66D040E875F}"/>
              </a:ext>
            </a:extLst>
          </p:cNvPr>
          <p:cNvPicPr/>
          <p:nvPr userDrawn="1"/>
        </p:nvPicPr>
        <p:blipFill>
          <a:blip r:embed="rId2"/>
          <a:stretch>
            <a:fillRect/>
          </a:stretch>
        </p:blipFill>
        <p:spPr bwMode="auto">
          <a:xfrm>
            <a:off x="381003" y="6381481"/>
            <a:ext cx="3200395" cy="36431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814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7347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61" r:id="rId8"/>
    <p:sldLayoutId id="2147483660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rgbClr val="21314D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Arial"/>
                <a:cs typeface="Arial"/>
              </a:rPr>
              <a:t>EENG 284</a:t>
            </a:r>
            <a:br>
              <a:rPr lang="en-US" dirty="0"/>
            </a:br>
            <a:r>
              <a:rPr lang="en-US" dirty="0">
                <a:latin typeface="Arial"/>
                <a:cs typeface="Arial"/>
              </a:rPr>
              <a:t>Lab 05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Guessing Game With Hints</a:t>
            </a:r>
          </a:p>
        </p:txBody>
      </p:sp>
    </p:spTree>
    <p:extLst>
      <p:ext uri="{BB962C8B-B14F-4D97-AF65-F5344CB8AC3E}">
        <p14:creationId xmlns:p14="http://schemas.microsoft.com/office/powerpoint/2010/main" val="2018888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91201"/>
          </a:xfrm>
        </p:spPr>
        <p:txBody>
          <a:bodyPr>
            <a:normAutofit/>
          </a:bodyPr>
          <a:lstStyle/>
          <a:p>
            <a:r>
              <a:rPr lang="en-US" dirty="0"/>
              <a:t>Verilog</a:t>
            </a:r>
          </a:p>
          <a:p>
            <a:pPr lvl="1"/>
            <a:r>
              <a:rPr lang="en-US" dirty="0"/>
              <a:t>Using basic building blocks</a:t>
            </a:r>
          </a:p>
          <a:p>
            <a:pPr lvl="2"/>
            <a:r>
              <a:rPr lang="en-US" dirty="0"/>
              <a:t>Adder Subtractor</a:t>
            </a:r>
          </a:p>
          <a:p>
            <a:r>
              <a:rPr lang="en-US" dirty="0"/>
              <a:t>Simulation</a:t>
            </a:r>
          </a:p>
          <a:p>
            <a:r>
              <a:rPr lang="en-US" dirty="0"/>
              <a:t>Synthesis</a:t>
            </a:r>
          </a:p>
        </p:txBody>
      </p:sp>
    </p:spTree>
    <p:extLst>
      <p:ext uri="{BB962C8B-B14F-4D97-AF65-F5344CB8AC3E}">
        <p14:creationId xmlns:p14="http://schemas.microsoft.com/office/powerpoint/2010/main" val="2263269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r>
              <a:rPr lang="en-US" dirty="0"/>
              <a:t>Same game play as last week with a clue</a:t>
            </a:r>
          </a:p>
          <a:p>
            <a:r>
              <a:rPr lang="en-US" dirty="0"/>
              <a:t>The clue gives the “closeness” of the guess</a:t>
            </a:r>
          </a:p>
          <a:p>
            <a:pPr lvl="1"/>
            <a:r>
              <a:rPr lang="en-US" dirty="0"/>
              <a:t>Hot, warm or cold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29EF7-4BCB-4CC2-863E-EEECE6FB143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221" y="3429000"/>
            <a:ext cx="9519557" cy="2545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29779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Play – The Clue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97304"/>
          </a:xfrm>
        </p:spPr>
        <p:txBody>
          <a:bodyPr>
            <a:normAutofit/>
          </a:bodyPr>
          <a:lstStyle/>
          <a:p>
            <a:r>
              <a:rPr lang="en-US" sz="2800" dirty="0"/>
              <a:t>Guess that is within </a:t>
            </a:r>
            <a:r>
              <a:rPr lang="en-US" dirty="0"/>
              <a:t>[0-2]</a:t>
            </a:r>
            <a:r>
              <a:rPr lang="en-US" sz="2800" dirty="0"/>
              <a:t> is </a:t>
            </a:r>
            <a:r>
              <a:rPr lang="en-US" sz="2800" dirty="0">
                <a:solidFill>
                  <a:srgbClr val="FF0000"/>
                </a:solidFill>
              </a:rPr>
              <a:t>hot</a:t>
            </a:r>
          </a:p>
          <a:p>
            <a:r>
              <a:rPr lang="en-US" dirty="0"/>
              <a:t>Guess that is between [3-5] is </a:t>
            </a:r>
            <a:r>
              <a:rPr lang="en-US" dirty="0">
                <a:solidFill>
                  <a:srgbClr val="00B050"/>
                </a:solidFill>
              </a:rPr>
              <a:t>warm</a:t>
            </a:r>
          </a:p>
          <a:p>
            <a:r>
              <a:rPr lang="en-US" sz="2800" dirty="0"/>
              <a:t>Guess that is 6 or more away is </a:t>
            </a:r>
            <a:r>
              <a:rPr lang="en-US" sz="2800" dirty="0">
                <a:solidFill>
                  <a:srgbClr val="0070C0"/>
                </a:solidFill>
              </a:rPr>
              <a:t>cold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7A5B98-E63D-1CAD-497C-367E7408420A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43990"/>
            <a:ext cx="7454564" cy="22175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51226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80F9B8-3058-427D-893F-61C47973B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738" y="2058183"/>
            <a:ext cx="6353764" cy="443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172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Provided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50135"/>
          </a:xfrm>
        </p:spPr>
        <p:txBody>
          <a:bodyPr>
            <a:normAutofit/>
          </a:bodyPr>
          <a:lstStyle/>
          <a:p>
            <a:r>
              <a:rPr lang="en-US" dirty="0"/>
              <a:t>Adder subtractor</a:t>
            </a:r>
          </a:p>
          <a:p>
            <a:r>
              <a:rPr lang="en-US" dirty="0"/>
              <a:t>Full adder</a:t>
            </a:r>
          </a:p>
          <a:p>
            <a:r>
              <a:rPr lang="en-US" dirty="0" err="1"/>
              <a:t>hotCold</a:t>
            </a:r>
            <a:r>
              <a:rPr lang="en-US" dirty="0"/>
              <a:t> testbench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67050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hiLow</a:t>
            </a:r>
            <a:r>
              <a:rPr lang="en-US" dirty="0"/>
              <a:t>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96895"/>
          </a:xfrm>
        </p:spPr>
        <p:txBody>
          <a:bodyPr>
            <a:normAutofit/>
          </a:bodyPr>
          <a:lstStyle/>
          <a:p>
            <a:r>
              <a:rPr lang="en-US" dirty="0"/>
              <a:t>Glue together</a:t>
            </a:r>
          </a:p>
          <a:p>
            <a:pPr lvl="1"/>
            <a:r>
              <a:rPr lang="en-US" dirty="0"/>
              <a:t>Module instantiations</a:t>
            </a:r>
          </a:p>
          <a:p>
            <a:pPr lvl="2"/>
            <a:r>
              <a:rPr lang="en-US" dirty="0"/>
              <a:t>2 2x1 </a:t>
            </a:r>
            <a:r>
              <a:rPr lang="en-US" dirty="0" err="1"/>
              <a:t>muxes</a:t>
            </a:r>
            <a:endParaRPr lang="en-US" dirty="0"/>
          </a:p>
          <a:p>
            <a:pPr lvl="2"/>
            <a:r>
              <a:rPr lang="en-US" dirty="0"/>
              <a:t>2 comparators</a:t>
            </a:r>
          </a:p>
          <a:p>
            <a:pPr lvl="2"/>
            <a:r>
              <a:rPr lang="en-US" dirty="0"/>
              <a:t>1 adder subtractor (include </a:t>
            </a:r>
            <a:r>
              <a:rPr lang="en-US" dirty="0" err="1"/>
              <a:t>fullAdder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Always/case statements for </a:t>
            </a:r>
            <a:r>
              <a:rPr lang="en-US" dirty="0" err="1"/>
              <a:t>hotWarmCold</a:t>
            </a:r>
            <a:endParaRPr lang="en-US" dirty="0"/>
          </a:p>
          <a:p>
            <a:pPr lvl="1"/>
            <a:r>
              <a:rPr lang="en-US" dirty="0"/>
              <a:t>Discrete logic to transform compare output to hot warm cold signal</a:t>
            </a:r>
          </a:p>
        </p:txBody>
      </p:sp>
    </p:spTree>
    <p:extLst>
      <p:ext uri="{BB962C8B-B14F-4D97-AF65-F5344CB8AC3E}">
        <p14:creationId xmlns:p14="http://schemas.microsoft.com/office/powerpoint/2010/main" val="354658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hotCold_tb</a:t>
            </a:r>
            <a:r>
              <a:rPr lang="en-US" dirty="0"/>
              <a:t> Testbench</a:t>
            </a:r>
          </a:p>
          <a:p>
            <a:r>
              <a:rPr lang="en-US" dirty="0"/>
              <a:t>Working </a:t>
            </a:r>
            <a:r>
              <a:rPr lang="en-US" dirty="0" err="1"/>
              <a:t>hotCold</a:t>
            </a:r>
            <a:r>
              <a:rPr lang="en-US" dirty="0"/>
              <a:t> implementation on Cyclone 5G boards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369E19-766C-4E9F-96A3-1F837B02C6C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19951" y="3034443"/>
            <a:ext cx="10752097" cy="264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27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CA56346D718341AD6F7BE32044DEA3" ma:contentTypeVersion="3" ma:contentTypeDescription="Create a new document." ma:contentTypeScope="" ma:versionID="291df287ff1ec43df0b312dda8e1454e">
  <xsd:schema xmlns:xsd="http://www.w3.org/2001/XMLSchema" xmlns:xs="http://www.w3.org/2001/XMLSchema" xmlns:p="http://schemas.microsoft.com/office/2006/metadata/properties" xmlns:ns2="e54ece5e-ea3e-475a-a07c-9da9db720c35" targetNamespace="http://schemas.microsoft.com/office/2006/metadata/properties" ma:root="true" ma:fieldsID="2af1a4df17c9c95860ef326849b47e11" ns2:_="">
    <xsd:import namespace="e54ece5e-ea3e-475a-a07c-9da9db720c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4ece5e-ea3e-475a-a07c-9da9db720c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0C7D843-D91E-41FB-8D2D-C2BE94CD790F}"/>
</file>

<file path=customXml/itemProps2.xml><?xml version="1.0" encoding="utf-8"?>
<ds:datastoreItem xmlns:ds="http://schemas.openxmlformats.org/officeDocument/2006/customXml" ds:itemID="{211550C6-DC6E-4A5E-9402-A2EC382D827D}"/>
</file>

<file path=customXml/itemProps3.xml><?xml version="1.0" encoding="utf-8"?>
<ds:datastoreItem xmlns:ds="http://schemas.openxmlformats.org/officeDocument/2006/customXml" ds:itemID="{FFFDA1C9-CB3D-4314-9E88-5D78EAF66852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3381</TotalTime>
  <Words>198</Words>
  <Application>Microsoft Office PowerPoint</Application>
  <PresentationFormat>Widescreen</PresentationFormat>
  <Paragraphs>47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Gotham</vt:lpstr>
      <vt:lpstr>Gotham Book</vt:lpstr>
      <vt:lpstr>Office Theme</vt:lpstr>
      <vt:lpstr>EENG 284 Lab 05</vt:lpstr>
      <vt:lpstr>Lab Objectives</vt:lpstr>
      <vt:lpstr>Game Play</vt:lpstr>
      <vt:lpstr>Game Play – The Clue Example</vt:lpstr>
      <vt:lpstr>System Architecture</vt:lpstr>
      <vt:lpstr>Provided Code</vt:lpstr>
      <vt:lpstr>hiLow Module</vt:lpstr>
      <vt:lpstr>Deliverables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/>
  <cp:lastModifiedBy>Prachi Sharma</cp:lastModifiedBy>
  <cp:revision>103</cp:revision>
  <dcterms:created xsi:type="dcterms:W3CDTF">2017-08-01T15:06:47Z</dcterms:created>
  <dcterms:modified xsi:type="dcterms:W3CDTF">2025-10-14T01:46:08Z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0x010100B0CA56346D718341AD6F7BE32044DEA3</vt:lpwstr>
  </property>
</Properties>
</file>