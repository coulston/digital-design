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62" r:id="rId5"/>
    <p:sldId id="625" r:id="rId6"/>
    <p:sldId id="632" r:id="rId7"/>
    <p:sldId id="637" r:id="rId8"/>
    <p:sldId id="557" r:id="rId9"/>
    <p:sldId id="621" r:id="rId10"/>
    <p:sldId id="622" r:id="rId11"/>
    <p:sldId id="623" r:id="rId12"/>
    <p:sldId id="624" r:id="rId13"/>
    <p:sldId id="634" r:id="rId14"/>
    <p:sldId id="636" r:id="rId15"/>
    <p:sldId id="627" r:id="rId16"/>
    <p:sldId id="63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67D606-A8B9-AC0F-9577-6E06F078A971}" v="5" dt="2025-08-26T02:01:06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26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Sitanggang (Student)" userId="S::ben_sitanggang@mines.edu::c5671cab-f65a-4798-8726-9481ce874815" providerId="AD" clId="Web-{7867D606-A8B9-AC0F-9577-6E06F078A971}"/>
    <pc:docChg chg="modSld">
      <pc:chgData name="Ben Sitanggang (Student)" userId="S::ben_sitanggang@mines.edu::c5671cab-f65a-4798-8726-9481ce874815" providerId="AD" clId="Web-{7867D606-A8B9-AC0F-9577-6E06F078A971}" dt="2025-08-26T02:01:06.004" v="3" actId="20577"/>
      <pc:docMkLst>
        <pc:docMk/>
      </pc:docMkLst>
      <pc:sldChg chg="modSp">
        <pc:chgData name="Ben Sitanggang (Student)" userId="S::ben_sitanggang@mines.edu::c5671cab-f65a-4798-8726-9481ce874815" providerId="AD" clId="Web-{7867D606-A8B9-AC0F-9577-6E06F078A971}" dt="2025-08-26T02:01:06.004" v="3" actId="20577"/>
        <pc:sldMkLst>
          <pc:docMk/>
          <pc:sldMk cId="4103412256" sldId="632"/>
        </pc:sldMkLst>
        <pc:spChg chg="mod">
          <ac:chgData name="Ben Sitanggang (Student)" userId="S::ben_sitanggang@mines.edu::c5671cab-f65a-4798-8726-9481ce874815" providerId="AD" clId="Web-{7867D606-A8B9-AC0F-9577-6E06F078A971}" dt="2025-08-26T02:01:06.004" v="3" actId="20577"/>
          <ac:spMkLst>
            <pc:docMk/>
            <pc:sldMk cId="4103412256" sldId="632"/>
            <ac:spMk id="3" creationId="{5F734E9C-AAA0-10DE-BFCE-49D582275CB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C9C-88A3-CA43-B162-DCC4E1E4BE7D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FE5E8-0999-F94A-9937-3F8545B1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10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E4000-89B6-4F22-834E-B172C4AA57D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C4D68-66B1-48D6-AAFD-4ABFAB720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861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61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7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6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29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6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27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As we recently had version 24.1 installed, it might not show up in search as the top choice. Make sure you type ‘</a:t>
            </a:r>
            <a:r>
              <a:rPr lang="en-US" err="1"/>
              <a:t>quartus</a:t>
            </a:r>
            <a:r>
              <a:rPr lang="en-US"/>
              <a:t> prime’ in the search option to see the latest version. Also, do not chose the programmer, you want to launch the executable app that you can recognize by the blue icon </a:t>
            </a:r>
          </a:p>
          <a:p>
            <a:endParaRPr lang="en-US"/>
          </a:p>
          <a:p>
            <a:r>
              <a:rPr lang="en-US"/>
              <a:t>This might only happen the first few times till the cache is updated and 24.1 starts showing up as a top choice in the search options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37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8"/>
            <a:ext cx="10356915" cy="582576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55106-BA85-A046-A450-43480962F8F7}"/>
              </a:ext>
            </a:extLst>
          </p:cNvPr>
          <p:cNvSpPr/>
          <p:nvPr userDrawn="1"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20878" y="3287006"/>
            <a:ext cx="911199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7ABF0-DEE6-F34C-98A7-7FC5808DF58A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B3FD82-CB41-C84B-B706-06F09C4B7CF1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>
                <a:solidFill>
                  <a:schemeClr val="bg1"/>
                </a:solidFill>
              </a:rPr>
              <a:t>Subhead, name or date goes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429AB2-51CA-D34A-933D-348196C30A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6"/>
            <a:ext cx="10356915" cy="582576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5400">
                <a:solidFill>
                  <a:schemeClr val="bg1"/>
                </a:solidFill>
              </a:rPr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0832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subhead goes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BC71D-0003-024E-9F29-71C949747F4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15021-AF61-AF4F-9B48-1343FD8CB059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15936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7278D-9F84-1645-9C4A-4B5FD9D6895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633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29617-3EE6-934F-B272-92B6163ABCA3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77242-14B3-B24E-8B0C-44E4362EFCB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9185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53E08-80AB-B043-979E-87B7A1E7EB2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B57081-B141-9B4E-9482-F401745054E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0EA07-1225-FE4C-917E-74A024F5E428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F1F743-16CE-3043-9E24-77715B0645D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159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838202" y="5746528"/>
            <a:ext cx="13016751" cy="779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r>
              <a:rPr lang="en-US" sz="4400" b="1" i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552941"/>
            <a:ext cx="10356915" cy="58257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>
                <a:solidFill>
                  <a:schemeClr val="bg1"/>
                </a:solidFill>
              </a:rPr>
              <a:t>“Quote goes here.”</a:t>
            </a:r>
          </a:p>
        </p:txBody>
      </p:sp>
    </p:spTree>
    <p:extLst>
      <p:ext uri="{BB962C8B-B14F-4D97-AF65-F5344CB8AC3E}">
        <p14:creationId xmlns:p14="http://schemas.microsoft.com/office/powerpoint/2010/main" val="22439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/>
              <a:t>Click to add text</a:t>
            </a:r>
          </a:p>
          <a:p>
            <a:r>
              <a:rPr lang="en-US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53956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16478-27A8-5948-917C-6E6357F4BB0B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30F95D-C0F7-B448-B59E-D27295E0C7A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150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Copy goes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Supporting text goes here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F5E0A-84A7-2F4C-A9C5-069A0CC392D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8516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29638-9519-5646-BC6C-4C995584BC00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467B4F-5A8F-3845-8B30-98B83A0003A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6763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6899B-D311-B446-8DBB-7D61E82846C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CB1FB3-2557-BB46-9386-C66D040E875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14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734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371" y="1661652"/>
            <a:ext cx="10803672" cy="1300983"/>
          </a:xfrm>
        </p:spPr>
        <p:txBody>
          <a:bodyPr>
            <a:normAutofit/>
          </a:bodyPr>
          <a:lstStyle/>
          <a:p>
            <a:r>
              <a:rPr lang="en-US"/>
              <a:t>EENG 284</a:t>
            </a:r>
            <a:br>
              <a:rPr lang="en-US"/>
            </a:br>
            <a:r>
              <a:rPr lang="en-US"/>
              <a:t>Introduction To Quartus and Verilog</a:t>
            </a:r>
          </a:p>
        </p:txBody>
      </p:sp>
    </p:spTree>
    <p:extLst>
      <p:ext uri="{BB962C8B-B14F-4D97-AF65-F5344CB8AC3E}">
        <p14:creationId xmlns:p14="http://schemas.microsoft.com/office/powerpoint/2010/main" val="20188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1201"/>
          </a:xfrm>
        </p:spPr>
        <p:txBody>
          <a:bodyPr>
            <a:normAutofit lnSpcReduction="10000"/>
          </a:bodyPr>
          <a:lstStyle/>
          <a:p>
            <a:r>
              <a:rPr lang="en-US"/>
              <a:t>Working with the </a:t>
            </a:r>
            <a:r>
              <a:rPr lang="en-US" err="1"/>
              <a:t>Quartus</a:t>
            </a:r>
            <a:r>
              <a:rPr lang="en-US"/>
              <a:t> IDE</a:t>
            </a:r>
          </a:p>
          <a:p>
            <a:r>
              <a:rPr lang="en-US"/>
              <a:t>Verilog skills</a:t>
            </a:r>
          </a:p>
          <a:p>
            <a:pPr lvl="1"/>
            <a:r>
              <a:rPr lang="en-US"/>
              <a:t>Creating logical expressions in Verilog</a:t>
            </a:r>
          </a:p>
          <a:p>
            <a:pPr lvl="1"/>
            <a:r>
              <a:rPr lang="en-US"/>
              <a:t>Concurrent Signal Assignments</a:t>
            </a:r>
          </a:p>
          <a:p>
            <a:r>
              <a:rPr lang="en-US"/>
              <a:t>Simulation</a:t>
            </a:r>
          </a:p>
          <a:p>
            <a:pPr lvl="1"/>
            <a:r>
              <a:rPr lang="en-US"/>
              <a:t>Working with </a:t>
            </a:r>
            <a:r>
              <a:rPr lang="en-US" err="1"/>
              <a:t>testbenches</a:t>
            </a:r>
            <a:endParaRPr lang="en-US"/>
          </a:p>
          <a:p>
            <a:pPr lvl="1"/>
            <a:r>
              <a:rPr lang="en-US"/>
              <a:t>Working with Questa (run command)</a:t>
            </a:r>
          </a:p>
          <a:p>
            <a:pPr lvl="1"/>
            <a:r>
              <a:rPr lang="en-US"/>
              <a:t>Creating timing diagrams</a:t>
            </a:r>
          </a:p>
          <a:p>
            <a:pPr lvl="1"/>
            <a:r>
              <a:rPr lang="en-US"/>
              <a:t>Verifying design</a:t>
            </a:r>
          </a:p>
          <a:p>
            <a:pPr marL="0" indent="0"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271810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9A3C8-516E-F126-8C0D-C856D668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E160-0F32-1EE6-E0AD-3C9B4061E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4E9C-AAA0-10DE-BFCE-49D582275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en-US" dirty="0">
                <a:latin typeface="Arial"/>
                <a:cs typeface="Arial"/>
              </a:rPr>
              <a:t>You can now start work on lab 1.</a:t>
            </a:r>
          </a:p>
          <a:p>
            <a:pPr marL="227965" indent="-227965"/>
            <a:r>
              <a:rPr lang="en-US" dirty="0">
                <a:latin typeface="Arial"/>
                <a:cs typeface="Arial"/>
              </a:rPr>
              <a:t>Go to course canvas module Labs</a:t>
            </a:r>
          </a:p>
          <a:p>
            <a:pPr marL="227965" indent="-227965"/>
            <a:r>
              <a:rPr lang="en-US" dirty="0">
                <a:latin typeface="Arial"/>
                <a:cs typeface="Arial"/>
              </a:rPr>
              <a:t>Under Lab 1, you will find this presentation for your reference ‘Lab 1 presentation’ and the lab assignment document ‘Lab1’ .</a:t>
            </a:r>
          </a:p>
          <a:p>
            <a:pPr marL="227965" indent="-227965"/>
            <a:r>
              <a:rPr lang="en-US" dirty="0">
                <a:latin typeface="Arial"/>
                <a:cs typeface="Arial"/>
              </a:rPr>
              <a:t>Follow the instructions in the document to complete your lab.</a:t>
            </a:r>
          </a:p>
          <a:p>
            <a:pPr marL="227965" indent="-227965"/>
            <a:r>
              <a:rPr lang="en-US" dirty="0">
                <a:solidFill>
                  <a:schemeClr val="accent1"/>
                </a:solidFill>
                <a:latin typeface="Arial"/>
                <a:cs typeface="Arial"/>
              </a:rPr>
              <a:t>Deliverable Dates</a:t>
            </a:r>
          </a:p>
          <a:p>
            <a:pPr marL="685154" lvl="1" indent="-227965"/>
            <a:r>
              <a:rPr lang="en-US" dirty="0">
                <a:solidFill>
                  <a:schemeClr val="accent1"/>
                </a:solidFill>
                <a:latin typeface="Arial"/>
                <a:cs typeface="Arial"/>
              </a:rPr>
              <a:t>Demo at the start of the next lab session.</a:t>
            </a:r>
          </a:p>
          <a:p>
            <a:pPr marL="685154" lvl="1" indent="-227965"/>
            <a:r>
              <a:rPr lang="en-US" dirty="0">
                <a:solidFill>
                  <a:schemeClr val="accent1"/>
                </a:solidFill>
                <a:latin typeface="Arial"/>
                <a:cs typeface="Arial"/>
              </a:rPr>
              <a:t>Upload PDF at the start of the next lab session.</a:t>
            </a:r>
          </a:p>
          <a:p>
            <a:pPr marL="227965" indent="-227965"/>
            <a:endParaRPr lang="en-US" dirty="0"/>
          </a:p>
          <a:p>
            <a:pPr marL="227965" indent="-227965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0341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007F-0163-9E8A-C3A1-AAEB5C5E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EAD18-C648-BDE0-AFC2-66812AF32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As you complete the ‘how to’ at the start of this lab, you will find that you have already completed part1 of Lab 1: a 2-input AND gate!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90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and testing digital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/>
              <a:t>2 files</a:t>
            </a:r>
          </a:p>
          <a:p>
            <a:pPr lvl="1"/>
            <a:r>
              <a:rPr lang="en-US"/>
              <a:t>Digital circuit	function02.v		Logic for circuit</a:t>
            </a:r>
          </a:p>
          <a:p>
            <a:pPr lvl="1"/>
            <a:r>
              <a:rPr lang="en-US" err="1"/>
              <a:t>Testbench</a:t>
            </a:r>
            <a:r>
              <a:rPr lang="en-US"/>
              <a:t>	function02_tb.v	Test inputs for circuit</a:t>
            </a:r>
          </a:p>
          <a:p>
            <a:pPr marL="0" indent="0">
              <a:buNone/>
            </a:pPr>
            <a:endParaRPr lang="en-US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DA01F4-CE62-42CC-8726-C774F431E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01235"/>
            <a:ext cx="5142977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79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Circuit – code for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257541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Concurrent assignment statements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assign p1 = ~a &amp; ~b &amp;  c;    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assign p2 = ~a &amp;  b &amp; ~c;    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assign p4 =  a &amp; ~b &amp; ~c;    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assign p7 =  a &amp;  b &amp;  c;    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assign f03 = p1 | p2 | p4 | p7;</a:t>
            </a:r>
          </a:p>
          <a:p>
            <a:endParaRPr lang="en-US"/>
          </a:p>
          <a:p>
            <a:r>
              <a:rPr lang="en-US"/>
              <a:t>All lines of code happen at the same time		concurrent</a:t>
            </a:r>
          </a:p>
          <a:p>
            <a:r>
              <a:rPr lang="en-US"/>
              <a:t>All lines of code happen all the time			continuous</a:t>
            </a:r>
          </a:p>
          <a:p>
            <a:endParaRPr lang="en-US"/>
          </a:p>
          <a:p>
            <a:pPr marL="0" indent="0">
              <a:buNone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644247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Testbench</a:t>
            </a:r>
            <a:r>
              <a:rPr lang="en-US"/>
              <a:t> – driving inputs to circuit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8C357-CAA9-4C74-BC86-2707AF546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921" y="1285175"/>
            <a:ext cx="6507812" cy="487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Testbench</a:t>
            </a:r>
            <a:r>
              <a:rPr lang="en-US"/>
              <a:t> – instantiation of test circuit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04C660-83D3-412F-965E-E641B7F1E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547" y="2165115"/>
            <a:ext cx="55626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81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Circuit -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90164"/>
          </a:xfrm>
        </p:spPr>
        <p:txBody>
          <a:bodyPr>
            <a:normAutofit/>
          </a:bodyPr>
          <a:lstStyle/>
          <a:p>
            <a:r>
              <a:rPr lang="en-US"/>
              <a:t>Timing diagram – logic level vs. time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(</a:t>
            </a:r>
            <a:r>
              <a:rPr lang="en-US" err="1"/>
              <a:t>a,b,c</a:t>
            </a:r>
            <a:r>
              <a:rPr lang="en-US"/>
              <a:t>) = (1,1,0) what is f equal?      Yes, f is the bottom trace.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CC37D5-000F-4365-9586-3BFF58C8607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305" y="2435588"/>
            <a:ext cx="10019389" cy="21773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5722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0FC4-9F92-7F91-3ACD-E9D81335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Quartus Prime lite 24.1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51A63-93D6-BDE2-00B9-CE75B3FCA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Go to course canvas module: Labs</a:t>
            </a:r>
          </a:p>
          <a:p>
            <a:r>
              <a:rPr lang="en-US" dirty="0"/>
              <a:t>Find the pdf document ‘How To 1 - Installing Quartus’, complete all the steps.</a:t>
            </a:r>
          </a:p>
          <a:p>
            <a:r>
              <a:rPr lang="en-US" dirty="0"/>
              <a:t>Find the pdf document ‘How To 2 - Creating a Project’, complete all the steps.</a:t>
            </a:r>
          </a:p>
          <a:p>
            <a:r>
              <a:rPr lang="en-US" dirty="0"/>
              <a:t>Find the pdf document ‘How T 3 – Performing a Simulation’, complete all the steps.</a:t>
            </a:r>
          </a:p>
          <a:p>
            <a:r>
              <a:rPr lang="en-US" dirty="0"/>
              <a:t>If you see the expected timing diagram at the end of simulation, your set up is complete. You will now be able to complete simulation component of labs anytime!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043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130D2-46EA-EF78-ADD0-598C7298E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DCD4A-128F-62B6-8946-4714ED74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Quartus Prime lite 24.1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97A16-CFA3-8C84-7A0B-67F6E0B42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Please complete the installation before next week.</a:t>
            </a:r>
          </a:p>
          <a:p>
            <a:r>
              <a:rPr lang="en-US" dirty="0"/>
              <a:t>Quartus prime lite will not work on iOS; use a lab computer.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48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1BCEEB-853E-6BAD-DA3C-F0F4CCB02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285" y="2808560"/>
            <a:ext cx="7125317" cy="19585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C31C8-62C8-8BC7-5649-57ECF8DAB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Launching Quartus Prime lite 24.1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6F6BE-5A21-7F2B-D5BE-32AEF4D9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On Lab computers</a:t>
            </a:r>
          </a:p>
          <a:p>
            <a:pPr lvl="1"/>
            <a:r>
              <a:rPr lang="de-DE"/>
              <a:t>C:\intelFPGA_lite\24.1std\quartus\bin64\quartus.exe</a:t>
            </a:r>
          </a:p>
          <a:p>
            <a:pPr lvl="1"/>
            <a:endParaRPr lang="de-DE"/>
          </a:p>
          <a:p>
            <a:pPr lvl="1"/>
            <a:endParaRPr lang="de-DE"/>
          </a:p>
          <a:p>
            <a:pPr lvl="1"/>
            <a:endParaRPr lang="de-DE"/>
          </a:p>
          <a:p>
            <a:pPr lvl="1"/>
            <a:endParaRPr lang="de-DE"/>
          </a:p>
          <a:p>
            <a:pPr lvl="1"/>
            <a:endParaRPr lang="de-DE"/>
          </a:p>
          <a:p>
            <a:pPr lvl="1"/>
            <a:endParaRPr lang="de-DE"/>
          </a:p>
          <a:p>
            <a:pPr lvl="1"/>
            <a:r>
              <a:rPr lang="de-DE"/>
              <a:t>This should launch Quartus Prime lite 24.1. You can also navigate to </a:t>
            </a:r>
          </a:p>
          <a:p>
            <a:pPr marL="457189" lvl="1" indent="0">
              <a:buNone/>
            </a:pPr>
            <a:r>
              <a:rPr lang="de-DE"/>
              <a:t>C:\intelFPGA_lite\24.1std\quartus\bin64 and double click to open the executable application quartus.</a:t>
            </a:r>
          </a:p>
          <a:p>
            <a:pPr lvl="1"/>
            <a:endParaRPr lang="de-DE"/>
          </a:p>
          <a:p>
            <a:pPr lvl="1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8C7679-F8FB-3D9D-84B4-FEEAD39764CD}"/>
              </a:ext>
            </a:extLst>
          </p:cNvPr>
          <p:cNvSpPr/>
          <p:nvPr/>
        </p:nvSpPr>
        <p:spPr>
          <a:xfrm>
            <a:off x="2245489" y="3923818"/>
            <a:ext cx="5879939" cy="3472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657778-9875-ECC7-BFF1-12C61DD4BB2D}"/>
              </a:ext>
            </a:extLst>
          </p:cNvPr>
          <p:cNvSpPr/>
          <p:nvPr/>
        </p:nvSpPr>
        <p:spPr>
          <a:xfrm>
            <a:off x="1527858" y="2233267"/>
            <a:ext cx="7292051" cy="5492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34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92DF-CDCE-3C1F-02EA-1CABBC866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58AF-64D0-7D69-EE93-0CC6C846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Launching Quartus Prime lite 24.1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03DC15-DBA7-CAD3-2A7B-21DAC636CB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6" t="3944"/>
          <a:stretch>
            <a:fillRect/>
          </a:stretch>
        </p:blipFill>
        <p:spPr>
          <a:xfrm>
            <a:off x="4062719" y="2916820"/>
            <a:ext cx="6098652" cy="305571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EE15E-5428-6ABA-4DBD-DF1F565B2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515"/>
            <a:ext cx="10515600" cy="4351338"/>
          </a:xfrm>
        </p:spPr>
        <p:txBody>
          <a:bodyPr/>
          <a:lstStyle/>
          <a:p>
            <a:r>
              <a:rPr lang="en-US"/>
              <a:t>On Lab computers</a:t>
            </a:r>
            <a:endParaRPr lang="de-DE"/>
          </a:p>
          <a:p>
            <a:pPr lvl="1"/>
            <a:r>
              <a:rPr lang="de-DE"/>
              <a:t>You can also search for ‘Quartus Prime‘, and make sure you open version 24.1</a:t>
            </a:r>
          </a:p>
          <a:p>
            <a:pPr lvl="1"/>
            <a:endParaRPr lang="de-DE"/>
          </a:p>
          <a:p>
            <a:pPr lvl="1"/>
            <a:endParaRPr lang="de-DE"/>
          </a:p>
          <a:p>
            <a:pPr lvl="1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9BC29-EFD2-A888-A9AC-227F375B1E23}"/>
              </a:ext>
            </a:extLst>
          </p:cNvPr>
          <p:cNvSpPr/>
          <p:nvPr/>
        </p:nvSpPr>
        <p:spPr>
          <a:xfrm>
            <a:off x="4363660" y="3094101"/>
            <a:ext cx="1759352" cy="41592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5DE94-B353-4EB9-1FB1-90E222398859}"/>
              </a:ext>
            </a:extLst>
          </p:cNvPr>
          <p:cNvSpPr/>
          <p:nvPr/>
        </p:nvSpPr>
        <p:spPr>
          <a:xfrm>
            <a:off x="4190039" y="4236717"/>
            <a:ext cx="2554147" cy="59569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3DCFD2-0E30-C85F-FE34-90D677AD44EE}"/>
              </a:ext>
            </a:extLst>
          </p:cNvPr>
          <p:cNvSpPr/>
          <p:nvPr/>
        </p:nvSpPr>
        <p:spPr>
          <a:xfrm>
            <a:off x="4190039" y="5559105"/>
            <a:ext cx="2554147" cy="44659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BB98BE-858E-1CD9-760F-E674C02A9AA0}"/>
              </a:ext>
            </a:extLst>
          </p:cNvPr>
          <p:cNvSpPr txBox="1"/>
          <p:nvPr/>
        </p:nvSpPr>
        <p:spPr>
          <a:xfrm>
            <a:off x="164215" y="3183038"/>
            <a:ext cx="355125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If there are multiple version of Quartus on the computer, </a:t>
            </a:r>
            <a:r>
              <a:rPr lang="en-US" b="1" dirty="0"/>
              <a:t>open the latest version 24.1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1E48A8-058B-04EB-DD0E-698E26C0A021}"/>
              </a:ext>
            </a:extLst>
          </p:cNvPr>
          <p:cNvCxnSpPr>
            <a:stCxn id="10" idx="3"/>
          </p:cNvCxnSpPr>
          <p:nvPr/>
        </p:nvCxnSpPr>
        <p:spPr>
          <a:xfrm flipV="1">
            <a:off x="3715473" y="3298785"/>
            <a:ext cx="648187" cy="345918"/>
          </a:xfrm>
          <a:prstGeom prst="straightConnector1">
            <a:avLst/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34A400-933C-BBE1-FEC5-4CEEE928A6DB}"/>
              </a:ext>
            </a:extLst>
          </p:cNvPr>
          <p:cNvCxnSpPr>
            <a:stCxn id="10" idx="3"/>
            <a:endCxn id="6" idx="1"/>
          </p:cNvCxnSpPr>
          <p:nvPr/>
        </p:nvCxnSpPr>
        <p:spPr>
          <a:xfrm>
            <a:off x="3715473" y="3644703"/>
            <a:ext cx="474566" cy="889861"/>
          </a:xfrm>
          <a:prstGeom prst="straightConnector1">
            <a:avLst/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E2DFC9A-890D-F74B-C06A-05B2CF21CB44}"/>
              </a:ext>
            </a:extLst>
          </p:cNvPr>
          <p:cNvSpPr txBox="1"/>
          <p:nvPr/>
        </p:nvSpPr>
        <p:spPr>
          <a:xfrm>
            <a:off x="174469" y="5264447"/>
            <a:ext cx="355125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/>
              <a:t>Do not launch the Programmer </a:t>
            </a:r>
            <a:r>
              <a:rPr lang="en-US"/>
              <a:t>which might show up as a top choice in your search result</a:t>
            </a:r>
            <a:endParaRPr lang="en-US" b="1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D7A92D8-773A-FCDA-7341-AE7E30DA9DBB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>
            <a:off x="3725727" y="5726112"/>
            <a:ext cx="464312" cy="56288"/>
          </a:xfrm>
          <a:prstGeom prst="straightConnector1">
            <a:avLst/>
          </a:prstGeom>
          <a:ln w="1905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80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CA56346D718341AD6F7BE32044DEA3" ma:contentTypeVersion="3" ma:contentTypeDescription="Create a new document." ma:contentTypeScope="" ma:versionID="291df287ff1ec43df0b312dda8e1454e">
  <xsd:schema xmlns:xsd="http://www.w3.org/2001/XMLSchema" xmlns:xs="http://www.w3.org/2001/XMLSchema" xmlns:p="http://schemas.microsoft.com/office/2006/metadata/properties" xmlns:ns2="e54ece5e-ea3e-475a-a07c-9da9db720c35" targetNamespace="http://schemas.microsoft.com/office/2006/metadata/properties" ma:root="true" ma:fieldsID="2af1a4df17c9c95860ef326849b47e11" ns2:_="">
    <xsd:import namespace="e54ece5e-ea3e-475a-a07c-9da9db720c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ece5e-ea3e-475a-a07c-9da9db720c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66605A-10A5-4B3E-9972-037E170105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743505-EF63-4C01-B40C-07055BE12B7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C82AAE0-D52A-44DA-9C76-59BEFE6B64FD}">
  <ds:schemaRefs>
    <ds:schemaRef ds:uri="e54ece5e-ea3e-475a-a07c-9da9db720c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654</Words>
  <Application>Microsoft Office PowerPoint</Application>
  <PresentationFormat>Widescreen</PresentationFormat>
  <Paragraphs>85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Gotham</vt:lpstr>
      <vt:lpstr>Gotham Book</vt:lpstr>
      <vt:lpstr>Office Theme</vt:lpstr>
      <vt:lpstr>EENG 284 Introduction To Quartus and Verilog</vt:lpstr>
      <vt:lpstr>Lab Objectives</vt:lpstr>
      <vt:lpstr>Lab 1</vt:lpstr>
      <vt:lpstr>Lab 1</vt:lpstr>
      <vt:lpstr>Building and testing digital circuits</vt:lpstr>
      <vt:lpstr>Circuit – code for gates</vt:lpstr>
      <vt:lpstr>Testbench – driving inputs to circuit</vt:lpstr>
      <vt:lpstr>Testbench – instantiation of test circuit</vt:lpstr>
      <vt:lpstr>Circuit - output</vt:lpstr>
      <vt:lpstr>Installing Quartus Prime lite 24.1</vt:lpstr>
      <vt:lpstr>Installing Quartus Prime lite 24.1</vt:lpstr>
      <vt:lpstr>Launching Quartus Prime lite 24.1</vt:lpstr>
      <vt:lpstr>Launching Quartus Prime lite 24.1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Chris Coulston</cp:lastModifiedBy>
  <cp:revision>7</cp:revision>
  <dcterms:created xsi:type="dcterms:W3CDTF">2017-08-01T15:06:47Z</dcterms:created>
  <dcterms:modified xsi:type="dcterms:W3CDTF">2026-01-19T02:34:07Z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0x010100B0CA56346D718341AD6F7BE32044DEA3</vt:lpwstr>
  </property>
</Properties>
</file>