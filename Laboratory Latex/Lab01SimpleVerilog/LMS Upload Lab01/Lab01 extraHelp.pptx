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handoutMasterIdLst>
    <p:handoutMasterId r:id="rId12"/>
  </p:handoutMasterIdLst>
  <p:sldIdLst>
    <p:sldId id="339" r:id="rId2"/>
    <p:sldId id="9378" r:id="rId3"/>
    <p:sldId id="9380" r:id="rId4"/>
    <p:sldId id="9381" r:id="rId5"/>
    <p:sldId id="9391" r:id="rId6"/>
    <p:sldId id="9385" r:id="rId7"/>
    <p:sldId id="9386" r:id="rId8"/>
    <p:sldId id="9384" r:id="rId9"/>
    <p:sldId id="939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52" autoAdjust="0"/>
    <p:restoredTop sz="82599" autoAdjust="0"/>
  </p:normalViewPr>
  <p:slideViewPr>
    <p:cSldViewPr snapToGrid="0">
      <p:cViewPr varScale="1">
        <p:scale>
          <a:sx n="79" d="100"/>
          <a:sy n="79" d="100"/>
        </p:scale>
        <p:origin x="331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6D4B248-8B43-FE0B-757A-B1F5A913EB8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D285BB-A48F-094F-EC42-BB94ABD0D39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316306-95CC-4ECC-AC38-932264877760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5D317D-C666-0C1B-B7D5-37B387CA01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9740C3-904E-79C8-38C6-5941EC55151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D326C6-F07B-43E7-A94A-847E69604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27819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10D557-CE5F-4236-A0E1-1C2CD4071D6D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02487F-849B-493B-9599-57D9C24E81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4661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285793-58F2-5D45-93FF-B0076DA99FD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98019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can choose the LSB which changes every bit and then say find next transition in the toolbar on the top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02487F-849B-493B-9599-57D9C24E81F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9136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Full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tandard-Zoom-Backgrounds | Colorado School of Mines | Flickr">
            <a:extLst>
              <a:ext uri="{FF2B5EF4-FFF2-40B4-BE49-F238E27FC236}">
                <a16:creationId xmlns:a16="http://schemas.microsoft.com/office/drawing/2014/main" id="{A29A6F24-447C-B9FA-F21F-77D28511198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4" y="0"/>
            <a:ext cx="121793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4982633" y="2006436"/>
            <a:ext cx="7191331" cy="1460688"/>
          </a:xfrm>
          <a:solidFill>
            <a:srgbClr val="243F65">
              <a:alpha val="74902"/>
            </a:srgbClr>
          </a:solidFill>
        </p:spPr>
        <p:txBody>
          <a:bodyPr lIns="182880" tIns="137160" rIns="182880" bIns="137160" anchor="ctr" anchorCtr="0">
            <a:noAutofit/>
          </a:bodyPr>
          <a:lstStyle>
            <a:lvl1pPr marL="0" indent="0">
              <a:lnSpc>
                <a:spcPts val="3733"/>
              </a:lnSpc>
              <a:buNone/>
              <a:defRPr sz="4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1" hasCustomPrompt="1"/>
          </p:nvPr>
        </p:nvSpPr>
        <p:spPr>
          <a:xfrm>
            <a:off x="4982634" y="3659717"/>
            <a:ext cx="5763684" cy="1468735"/>
          </a:xfrm>
          <a:solidFill>
            <a:srgbClr val="243F65">
              <a:alpha val="75000"/>
            </a:srgbClr>
          </a:solidFill>
        </p:spPr>
        <p:txBody>
          <a:bodyPr lIns="182880" tIns="137160" rIns="182880" bIns="137160" anchor="ctr" anchorCtr="0">
            <a:noAutofit/>
          </a:bodyPr>
          <a:lstStyle>
            <a:lvl1pPr marL="0" indent="0">
              <a:lnSpc>
                <a:spcPts val="2347"/>
              </a:lnSpc>
              <a:spcBef>
                <a:spcPts val="533"/>
              </a:spcBef>
              <a:buNone/>
              <a:defRPr sz="2400" baseline="0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/>
              <a:t>Presenter Name</a:t>
            </a:r>
            <a:br>
              <a:rPr lang="en-US"/>
            </a:br>
            <a:r>
              <a:rPr lang="en-US"/>
              <a:t>Venue or Organization</a:t>
            </a:r>
            <a:br>
              <a:rPr lang="en-US"/>
            </a:br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6708428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036">
          <p15:clr>
            <a:srgbClr val="FBAE40"/>
          </p15:clr>
        </p15:guide>
        <p15:guide id="2" pos="28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Slide - Text,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1"/>
            <a:ext cx="5497435" cy="1209524"/>
          </a:xfrm>
        </p:spPr>
        <p:txBody>
          <a:bodyPr/>
          <a:lstStyle/>
          <a:p>
            <a:r>
              <a:rPr lang="en-US"/>
              <a:t>Simple Slide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609601" y="1451811"/>
            <a:ext cx="5285872" cy="48770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32C26046-8E0E-4224-8319-3B8C08FE8A5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83160" y="1451811"/>
            <a:ext cx="5285872" cy="48770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72333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Slide 2 - Text, 2 column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599" y="1"/>
            <a:ext cx="7915124" cy="1209524"/>
          </a:xfrm>
        </p:spPr>
        <p:txBody>
          <a:bodyPr/>
          <a:lstStyle/>
          <a:p>
            <a:r>
              <a:rPr lang="en-US"/>
              <a:t>Simple Slide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A0398508-7DDA-44A1-AFEE-29EEB82827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1" y="1451811"/>
            <a:ext cx="5285872" cy="48770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FEEA646A-CE53-4212-85CF-13F90A4A2E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83160" y="1451811"/>
            <a:ext cx="5285872" cy="48770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865890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Slide - Any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609599" y="1"/>
            <a:ext cx="10982476" cy="1209523"/>
          </a:xfrm>
        </p:spPr>
        <p:txBody>
          <a:bodyPr/>
          <a:lstStyle/>
          <a:p>
            <a:r>
              <a:rPr lang="en-US"/>
              <a:t>Simple Slide</a:t>
            </a:r>
          </a:p>
        </p:txBody>
      </p:sp>
    </p:spTree>
    <p:extLst>
      <p:ext uri="{BB962C8B-B14F-4D97-AF65-F5344CB8AC3E}">
        <p14:creationId xmlns:p14="http://schemas.microsoft.com/office/powerpoint/2010/main" val="437991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43F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760447" y="3707711"/>
            <a:ext cx="6099972" cy="0"/>
          </a:xfrm>
          <a:prstGeom prst="line">
            <a:avLst/>
          </a:prstGeom>
          <a:ln w="2857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14"/>
          <p:cNvSpPr>
            <a:spLocks noGrp="1"/>
          </p:cNvSpPr>
          <p:nvPr>
            <p:ph type="body" sz="quarter" idx="11" hasCustomPrompt="1"/>
          </p:nvPr>
        </p:nvSpPr>
        <p:spPr>
          <a:xfrm>
            <a:off x="623273" y="3948645"/>
            <a:ext cx="5270283" cy="1468735"/>
          </a:xfrm>
        </p:spPr>
        <p:txBody>
          <a:bodyPr>
            <a:noAutofit/>
          </a:bodyPr>
          <a:lstStyle>
            <a:lvl1pPr marL="0" indent="0">
              <a:spcBef>
                <a:spcPts val="533"/>
              </a:spcBef>
              <a:buNone/>
              <a:defRPr sz="2400" baseline="0">
                <a:solidFill>
                  <a:srgbClr val="FFFFFF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/>
              <a:t>Subtitle or additional text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8794D23-6074-4A1B-BA3A-739DFE96CA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3273" y="1669356"/>
            <a:ext cx="5283200" cy="1811779"/>
          </a:xfrm>
          <a:noFill/>
        </p:spPr>
        <p:txBody>
          <a:bodyPr tIns="45720" anchor="b" anchorCtr="0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Transition Slide Title</a:t>
            </a:r>
          </a:p>
        </p:txBody>
      </p:sp>
    </p:spTree>
    <p:extLst>
      <p:ext uri="{BB962C8B-B14F-4D97-AF65-F5344CB8AC3E}">
        <p14:creationId xmlns:p14="http://schemas.microsoft.com/office/powerpoint/2010/main" val="1369728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imple Slide - Any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609599" y="1"/>
            <a:ext cx="10982476" cy="1035352"/>
          </a:xfrm>
        </p:spPr>
        <p:txBody>
          <a:bodyPr/>
          <a:lstStyle>
            <a:lvl1pPr>
              <a:defRPr>
                <a:latin typeface="+mj-lt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Simple Slide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2614EE7-E822-4E46-9816-E5703CCEB87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" y="1261243"/>
            <a:ext cx="10982475" cy="5067592"/>
          </a:xfrm>
        </p:spPr>
        <p:txBody>
          <a:bodyPr/>
          <a:lstStyle>
            <a:lvl1pPr>
              <a:spcBef>
                <a:spcPts val="1600"/>
              </a:spcBef>
              <a:defRPr>
                <a:latin typeface="+mn-lt"/>
                <a:cs typeface="Times New Roman" panose="02020603050405020304" pitchFamily="18" charset="0"/>
              </a:defRPr>
            </a:lvl1pPr>
            <a:lvl2pPr>
              <a:spcBef>
                <a:spcPts val="800"/>
              </a:spcBef>
              <a:defRPr sz="2667">
                <a:latin typeface="+mn-lt"/>
                <a:cs typeface="Times New Roman" panose="02020603050405020304" pitchFamily="18" charset="0"/>
              </a:defRPr>
            </a:lvl2pPr>
            <a:lvl3pPr marL="838179" indent="-226478">
              <a:spcBef>
                <a:spcPts val="400"/>
              </a:spcBef>
              <a:buFont typeface="Courier New" panose="02070309020205020404" pitchFamily="49" charset="0"/>
              <a:buChar char="o"/>
              <a:defRPr sz="2400">
                <a:latin typeface="+mn-lt"/>
                <a:cs typeface="Times New Roman" panose="02020603050405020304" pitchFamily="18" charset="0"/>
              </a:defRPr>
            </a:lvl3pPr>
            <a:lvl4pPr marL="1219170" indent="-300559">
              <a:spcBef>
                <a:spcPts val="0"/>
              </a:spcBef>
              <a:buFont typeface="Wingdings" panose="05000000000000000000" pitchFamily="2" charset="2"/>
              <a:buChar char="§"/>
              <a:defRPr sz="2133">
                <a:latin typeface="+mn-lt"/>
                <a:cs typeface="Times New Roman" panose="02020603050405020304" pitchFamily="18" charset="0"/>
              </a:defRPr>
            </a:lvl4pPr>
            <a:lvl5pPr>
              <a:spcBef>
                <a:spcPts val="0"/>
              </a:spcBef>
              <a:defRPr sz="1600">
                <a:latin typeface="+mn-lt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7" name="Picture 6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29371564-B512-AF42-1AE5-D32BA45929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3701" y="6201134"/>
            <a:ext cx="1387963" cy="505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143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D3D0C-7536-420C-907F-0F8AD6F9A323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1D917-4682-4C08-B215-3037D9229E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441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1"/>
            <a:ext cx="5497435" cy="1600201"/>
          </a:xfrm>
          <a:prstGeom prst="rect">
            <a:avLst/>
          </a:prstGeom>
          <a:solidFill>
            <a:srgbClr val="243F65"/>
          </a:solidFill>
        </p:spPr>
        <p:txBody>
          <a:bodyPr vert="horz" lIns="91440" tIns="118872" rIns="91440" bIns="45720" rtlCol="0" anchor="ctr">
            <a:noAutofit/>
          </a:bodyPr>
          <a:lstStyle/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773689"/>
            <a:ext cx="10972800" cy="43524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51479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70" r:id="rId7"/>
  </p:sldLayoutIdLst>
  <p:hf sldNum="0" hdr="0" ftr="0" dt="0"/>
  <p:txStyles>
    <p:titleStyle>
      <a:lvl1pPr marL="0" algn="ctr" defTabSz="609585" rtl="0" eaLnBrk="1" latinLnBrk="0" hangingPunct="1">
        <a:lnSpc>
          <a:spcPts val="3733"/>
        </a:lnSpc>
        <a:spcBef>
          <a:spcPts val="0"/>
        </a:spcBef>
        <a:buNone/>
        <a:defRPr sz="4000" kern="1200" spc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30712" indent="-230712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13818" indent="-302676" algn="l" defTabSz="609585" rtl="0" eaLnBrk="1" latinLnBrk="0" hangingPunct="1">
        <a:spcBef>
          <a:spcPct val="20000"/>
        </a:spcBef>
        <a:buFont typeface="Arial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838179" indent="-226478" algn="l" defTabSz="609585" rtl="0" eaLnBrk="1" latinLnBrk="0" hangingPunct="1">
        <a:spcBef>
          <a:spcPct val="20000"/>
        </a:spcBef>
        <a:buFont typeface="Arial"/>
        <a:buChar char="•"/>
        <a:defRPr sz="2933" kern="1200">
          <a:solidFill>
            <a:schemeClr val="tx1"/>
          </a:solidFill>
          <a:latin typeface="+mn-lt"/>
          <a:ea typeface="+mn-ea"/>
          <a:cs typeface="+mn-cs"/>
        </a:defRPr>
      </a:lvl3pPr>
      <a:lvl4pPr marL="1219170" indent="-300559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1445648" indent="-226478" algn="l" defTabSz="609585" rtl="0" eaLnBrk="1" latinLnBrk="0" hangingPunct="1">
        <a:spcBef>
          <a:spcPct val="20000"/>
        </a:spcBef>
        <a:buFont typeface="Arial"/>
        <a:buChar char="»"/>
        <a:tabLst>
          <a:tab pos="1445648" algn="l"/>
        </a:tabLst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9C31BE8-3FC2-48DC-8122-6996DFD70A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756401" y="982494"/>
            <a:ext cx="5417564" cy="2193844"/>
          </a:xfrm>
        </p:spPr>
        <p:txBody>
          <a:bodyPr/>
          <a:lstStyle/>
          <a:p>
            <a:pPr>
              <a:lnSpc>
                <a:spcPts val="4000"/>
              </a:lnSpc>
            </a:pPr>
            <a:r>
              <a:rPr lang="en-US" sz="3600" dirty="0">
                <a:latin typeface="Aptos" panose="020B0004020202020204" pitchFamily="34" charset="0"/>
                <a:cs typeface="Times New Roman"/>
              </a:rPr>
              <a:t>EENG 284: Digital Logic</a:t>
            </a:r>
          </a:p>
          <a:p>
            <a:pPr>
              <a:lnSpc>
                <a:spcPts val="4000"/>
              </a:lnSpc>
            </a:pPr>
            <a:r>
              <a:rPr lang="en-US" sz="3200" dirty="0">
                <a:latin typeface="Aptos" panose="020B0004020202020204" pitchFamily="34" charset="0"/>
                <a:cs typeface="Times New Roman"/>
              </a:rPr>
              <a:t>Verilog help for Lab1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4C8032-F3D0-4D5C-9FB7-23E1CD92EBD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756401" y="3240504"/>
            <a:ext cx="5417564" cy="725104"/>
          </a:xfrm>
        </p:spPr>
        <p:txBody>
          <a:bodyPr/>
          <a:lstStyle/>
          <a:p>
            <a:pPr>
              <a:spcBef>
                <a:spcPts val="800"/>
              </a:spcBef>
            </a:pPr>
            <a:r>
              <a:rPr lang="en-US" sz="2667" dirty="0">
                <a:latin typeface="Aptos" panose="020B0004020202020204" pitchFamily="34" charset="0"/>
                <a:cs typeface="Times New Roman" panose="02020603050405020304" pitchFamily="18" charset="0"/>
              </a:rPr>
              <a:t>Prachi Sharma</a:t>
            </a:r>
            <a:endParaRPr lang="en-US" sz="1600" dirty="0">
              <a:latin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5871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3ACD470-339C-D518-7429-33041A10F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1: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f02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14AC3FE-0A3E-CD74-66E5-7EBBF4563D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Symbolic logic function to be implemented: 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			f02 = a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’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bc</a:t>
            </a: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’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					</a:t>
            </a:r>
            <a:r>
              <a:rPr lang="en-US" i="1" dirty="0"/>
              <a:t>In Verilog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	assign f02 =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~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 </a:t>
            </a:r>
            <a:r>
              <a:rPr lang="en-US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(b 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~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c);</a:t>
            </a:r>
            <a:endParaRPr lang="en-US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1B2BABD-99D8-E4A5-9E39-8195959F862D}"/>
              </a:ext>
            </a:extLst>
          </p:cNvPr>
          <p:cNvCxnSpPr/>
          <p:nvPr/>
        </p:nvCxnSpPr>
        <p:spPr>
          <a:xfrm>
            <a:off x="5370786" y="2743200"/>
            <a:ext cx="0" cy="1555531"/>
          </a:xfrm>
          <a:prstGeom prst="straightConnector1">
            <a:avLst/>
          </a:prstGeom>
          <a:ln>
            <a:tailEnd type="stealth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79645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11AA5-D707-4B14-3E95-D8D8F0736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1: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f02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9E932D-5BF0-0646-2CD2-B344FF68B7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Truth Table from Timing Diagram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B21BBF-689F-4463-B476-66AD2F203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77537"/>
            <a:ext cx="12192000" cy="323500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E5B9D90-7DA2-9563-6F3A-03EE81645A31}"/>
              </a:ext>
            </a:extLst>
          </p:cNvPr>
          <p:cNvSpPr/>
          <p:nvPr/>
        </p:nvSpPr>
        <p:spPr>
          <a:xfrm>
            <a:off x="5136204" y="3083668"/>
            <a:ext cx="612843" cy="214981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D93835-A4E2-0944-16A1-A5F0D3EBE12F}"/>
              </a:ext>
            </a:extLst>
          </p:cNvPr>
          <p:cNvSpPr txBox="1"/>
          <p:nvPr/>
        </p:nvSpPr>
        <p:spPr>
          <a:xfrm>
            <a:off x="5136204" y="5638431"/>
            <a:ext cx="1394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cursor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79C8BB8-2D7A-C102-9B5C-C6EC180CEE6F}"/>
              </a:ext>
            </a:extLst>
          </p:cNvPr>
          <p:cNvCxnSpPr>
            <a:cxnSpLocks/>
          </p:cNvCxnSpPr>
          <p:nvPr/>
        </p:nvCxnSpPr>
        <p:spPr>
          <a:xfrm flipV="1">
            <a:off x="1712067" y="4241260"/>
            <a:ext cx="0" cy="1392353"/>
          </a:xfrm>
          <a:prstGeom prst="straightConnector1">
            <a:avLst/>
          </a:prstGeom>
          <a:ln>
            <a:solidFill>
              <a:srgbClr val="FF000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C16C89DF-2C83-3474-CF54-9EBC45C4CF04}"/>
              </a:ext>
            </a:extLst>
          </p:cNvPr>
          <p:cNvSpPr/>
          <p:nvPr/>
        </p:nvSpPr>
        <p:spPr>
          <a:xfrm>
            <a:off x="1400783" y="3336587"/>
            <a:ext cx="612843" cy="90467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840A49-82D3-A2CE-815B-AC27164E49EF}"/>
              </a:ext>
            </a:extLst>
          </p:cNvPr>
          <p:cNvSpPr txBox="1"/>
          <p:nvPr/>
        </p:nvSpPr>
        <p:spPr>
          <a:xfrm>
            <a:off x="1157591" y="5633613"/>
            <a:ext cx="1394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Signal values</a:t>
            </a:r>
          </a:p>
        </p:txBody>
      </p:sp>
    </p:spTree>
    <p:extLst>
      <p:ext uri="{BB962C8B-B14F-4D97-AF65-F5344CB8AC3E}">
        <p14:creationId xmlns:p14="http://schemas.microsoft.com/office/powerpoint/2010/main" val="14017569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1BF68-1A6D-E60B-6A99-7B7359A9E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DFD69-8FF2-D57C-7F08-429C66087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1: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f02 (use the cursor!)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5C82CE-C8C2-19F1-F2CF-644ACEA4B8D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Truth Table from Timing Diagram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A6ACF2E-068D-D57E-E2AD-EEC63C86ED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6019871"/>
              </p:ext>
            </p:extLst>
          </p:nvPr>
        </p:nvGraphicFramePr>
        <p:xfrm>
          <a:off x="8038961" y="1503359"/>
          <a:ext cx="3454400" cy="411480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863600">
                  <a:extLst>
                    <a:ext uri="{9D8B030D-6E8A-4147-A177-3AD203B41FA5}">
                      <a16:colId xmlns:a16="http://schemas.microsoft.com/office/drawing/2014/main" val="1044238571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755711841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3553896817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735621467"/>
                    </a:ext>
                  </a:extLst>
                </a:gridCol>
              </a:tblGrid>
              <a:tr h="37744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6670208"/>
                  </a:ext>
                </a:extLst>
              </a:tr>
              <a:tr h="37744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8092896"/>
                  </a:ext>
                </a:extLst>
              </a:tr>
              <a:tr h="37744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3309350"/>
                  </a:ext>
                </a:extLst>
              </a:tr>
              <a:tr h="37744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5090202"/>
                  </a:ext>
                </a:extLst>
              </a:tr>
              <a:tr h="37744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1057694"/>
                  </a:ext>
                </a:extLst>
              </a:tr>
              <a:tr h="37744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2550725"/>
                  </a:ext>
                </a:extLst>
              </a:tr>
              <a:tr h="37744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498855"/>
                  </a:ext>
                </a:extLst>
              </a:tr>
              <a:tr h="37744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9724460"/>
                  </a:ext>
                </a:extLst>
              </a:tr>
              <a:tr h="37744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7268915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DEC8730F-8F98-B5D6-CCF5-544191A6B8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53463"/>
            <a:ext cx="7910667" cy="134207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B828E2A-6F6A-FE17-6824-AE2434D46C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29081"/>
            <a:ext cx="7910667" cy="2821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4049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A8630-E233-2B8C-B72C-8FCEC330B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Lab 1: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f02 (use the cursor!)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DA5036-2880-CDFD-3714-BE659C1C5D9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You can move the cursor on the timing diagram to find the o/p for each </a:t>
            </a:r>
            <a:r>
              <a:rPr lang="en-US" dirty="0" err="1"/>
              <a:t>i</a:t>
            </a:r>
            <a:r>
              <a:rPr lang="en-US" dirty="0"/>
              <a:t>/p combination in the truth table.</a:t>
            </a:r>
          </a:p>
          <a:p>
            <a:r>
              <a:rPr lang="en-US" dirty="0"/>
              <a:t>A very easy way to do this is find the bit that changes every row of your truth table (aka LSB, in this case ‘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dirty="0"/>
              <a:t>’). Select the LSB and keep choosing ‘find next transition’ in the toolbar on the top to get all the rows of your truth table!</a:t>
            </a:r>
          </a:p>
          <a:p>
            <a:r>
              <a:rPr lang="en-US" dirty="0"/>
              <a:t>We can also add multiple cursors, one at every transition.</a:t>
            </a:r>
          </a:p>
          <a:p>
            <a:r>
              <a:rPr lang="en-US" dirty="0"/>
              <a:t>Try to explore this during the lab otherwise we will discuss it during class on Wednesday! </a:t>
            </a:r>
          </a:p>
        </p:txBody>
      </p:sp>
    </p:spTree>
    <p:extLst>
      <p:ext uri="{BB962C8B-B14F-4D97-AF65-F5344CB8AC3E}">
        <p14:creationId xmlns:p14="http://schemas.microsoft.com/office/powerpoint/2010/main" val="730822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D32C5-0A48-FF55-A6F8-FBE69793E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82116-6196-5959-70E9-80EF00273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1: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f03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14FFE8-82FC-92CF-9EE0-768B29198F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Draw the circuit diagram for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f03</a:t>
            </a:r>
            <a:r>
              <a:rPr lang="en-US" dirty="0"/>
              <a:t>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assign p1 = ~a &amp; ~b &amp;  c;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assign p2 = ~a &amp;  b &amp; ~c;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assign p4 =  a &amp; ~b &amp; ~c;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assign p7 =  a &amp;  b &amp;  c;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assign f03 = p1 | p2 | p4 | p7;</a:t>
            </a:r>
          </a:p>
          <a:p>
            <a:pPr marL="0" indent="0">
              <a:spcBef>
                <a:spcPts val="0"/>
              </a:spcBef>
              <a:buNone/>
            </a:pP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0"/>
              </a:spcBef>
            </a:pPr>
            <a:r>
              <a:rPr lang="en-US" dirty="0">
                <a:cs typeface="Courier New" panose="02070309020205020404" pitchFamily="49" charset="0"/>
              </a:rPr>
              <a:t>Identify what </a:t>
            </a:r>
            <a:r>
              <a:rPr lang="en-US" dirty="0" err="1">
                <a:cs typeface="Courier New" panose="02070309020205020404" pitchFamily="49" charset="0"/>
              </a:rPr>
              <a:t>i</a:t>
            </a:r>
            <a:r>
              <a:rPr lang="en-US" dirty="0">
                <a:cs typeface="Courier New" panose="02070309020205020404" pitchFamily="49" charset="0"/>
              </a:rPr>
              <a:t>/p signals are required: we need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a, b, c </a:t>
            </a:r>
            <a:r>
              <a:rPr lang="en-US" dirty="0">
                <a:cs typeface="Courier New" panose="02070309020205020404" pitchFamily="49" charset="0"/>
              </a:rPr>
              <a:t>and their complements (NOT of a signal is called its complement).</a:t>
            </a:r>
          </a:p>
          <a:p>
            <a:pPr>
              <a:spcBef>
                <a:spcPts val="0"/>
              </a:spcBef>
            </a:pPr>
            <a:r>
              <a:rPr lang="en-US" dirty="0">
                <a:cs typeface="Courier New" panose="02070309020205020404" pitchFamily="49" charset="0"/>
              </a:rPr>
              <a:t>Generate the intermediate signals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p1, p2, p4, p7</a:t>
            </a:r>
            <a:r>
              <a:rPr lang="en-US" dirty="0">
                <a:cs typeface="Courier New" panose="02070309020205020404" pitchFamily="49" charset="0"/>
              </a:rPr>
              <a:t>. Each needs a 3-i/p AND gate.</a:t>
            </a:r>
          </a:p>
          <a:p>
            <a:pPr>
              <a:spcBef>
                <a:spcPts val="0"/>
              </a:spcBef>
            </a:pPr>
            <a:r>
              <a:rPr lang="en-US" dirty="0">
                <a:cs typeface="Courier New" panose="02070309020205020404" pitchFamily="49" charset="0"/>
              </a:rPr>
              <a:t>Generate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f03</a:t>
            </a:r>
            <a:r>
              <a:rPr lang="en-US" dirty="0">
                <a:cs typeface="Courier New" panose="02070309020205020404" pitchFamily="49" charset="0"/>
              </a:rPr>
              <a:t>: use a 4-i/p OR gate.</a:t>
            </a:r>
          </a:p>
        </p:txBody>
      </p:sp>
    </p:spTree>
    <p:extLst>
      <p:ext uri="{BB962C8B-B14F-4D97-AF65-F5344CB8AC3E}">
        <p14:creationId xmlns:p14="http://schemas.microsoft.com/office/powerpoint/2010/main" val="1777622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4D222-C28B-3B4B-EECB-F7F705379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1: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f03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E31EE8-02E0-EAE4-217C-F3FC3A4EF9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0017" y="1420603"/>
            <a:ext cx="8163252" cy="5047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1202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BDFD0-A22B-97DB-6866-E2590CF35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19192-8BB3-7910-7157-3CF300991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1: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f03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03F253-8413-8409-A5FB-EC0DFF698B7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Write the symbolic form of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f03</a:t>
            </a:r>
            <a:r>
              <a:rPr lang="en-US" dirty="0"/>
              <a:t>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assign p1 = ~a &amp; ~b &amp;  c;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assign p2 = ~a &amp;  b &amp; ~c;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assign p4 =  a &amp; ~b &amp; ~c;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assign p7 =  a &amp;  b &amp;  c;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assign f03 = p1 | p2 | p4 | p7;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4BB127-F6EC-6966-3A3E-7A4B3ED65A27}"/>
              </a:ext>
            </a:extLst>
          </p:cNvPr>
          <p:cNvSpPr txBox="1"/>
          <p:nvPr/>
        </p:nvSpPr>
        <p:spPr>
          <a:xfrm>
            <a:off x="3531141" y="3651179"/>
            <a:ext cx="550947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3000" b="1" dirty="0"/>
              <a:t>f03</a:t>
            </a:r>
            <a:r>
              <a:rPr lang="en-US" sz="3000" dirty="0"/>
              <a:t> = </a:t>
            </a:r>
            <a:r>
              <a:rPr lang="en-US" sz="3000" dirty="0">
                <a:solidFill>
                  <a:srgbClr val="0070C0"/>
                </a:solidFill>
              </a:rPr>
              <a:t>p1</a:t>
            </a:r>
            <a:r>
              <a:rPr lang="en-US" sz="3000" dirty="0"/>
              <a:t> + </a:t>
            </a:r>
            <a:r>
              <a:rPr lang="en-US" sz="3000" dirty="0">
                <a:solidFill>
                  <a:srgbClr val="C00000"/>
                </a:solidFill>
              </a:rPr>
              <a:t>p2</a:t>
            </a:r>
            <a:r>
              <a:rPr lang="en-US" sz="3000" dirty="0"/>
              <a:t> + </a:t>
            </a:r>
            <a:r>
              <a:rPr lang="en-US" sz="3000" dirty="0">
                <a:solidFill>
                  <a:srgbClr val="7030A0"/>
                </a:solidFill>
              </a:rPr>
              <a:t>p4</a:t>
            </a:r>
            <a:r>
              <a:rPr lang="en-US" sz="3000" dirty="0"/>
              <a:t> + </a:t>
            </a:r>
            <a:r>
              <a:rPr lang="en-US" sz="3000" dirty="0">
                <a:solidFill>
                  <a:srgbClr val="00B050"/>
                </a:solidFill>
              </a:rPr>
              <a:t>p7</a:t>
            </a:r>
          </a:p>
          <a:p>
            <a:pPr marL="342900" indent="-342900">
              <a:buAutoNum type="arabicPeriod"/>
            </a:pPr>
            <a:r>
              <a:rPr lang="en-US" sz="3000" dirty="0">
                <a:solidFill>
                  <a:srgbClr val="0070C0"/>
                </a:solidFill>
              </a:rPr>
              <a:t>p1 = </a:t>
            </a:r>
            <a:r>
              <a:rPr lang="en-US" sz="3000" dirty="0" err="1">
                <a:solidFill>
                  <a:srgbClr val="0070C0"/>
                </a:solidFill>
              </a:rPr>
              <a:t>a’b’c</a:t>
            </a:r>
            <a:endParaRPr lang="en-US" sz="3000" dirty="0">
              <a:solidFill>
                <a:srgbClr val="0070C0"/>
              </a:solidFill>
            </a:endParaRPr>
          </a:p>
          <a:p>
            <a:pPr marL="342900" indent="-342900">
              <a:buAutoNum type="arabicPeriod"/>
            </a:pPr>
            <a:r>
              <a:rPr lang="en-US" sz="3000" dirty="0">
                <a:solidFill>
                  <a:srgbClr val="C00000"/>
                </a:solidFill>
              </a:rPr>
              <a:t>p2 = </a:t>
            </a:r>
            <a:r>
              <a:rPr lang="en-US" sz="3000" dirty="0" err="1">
                <a:solidFill>
                  <a:srgbClr val="C00000"/>
                </a:solidFill>
              </a:rPr>
              <a:t>a’bc</a:t>
            </a:r>
            <a:r>
              <a:rPr lang="en-US" sz="3000" dirty="0">
                <a:solidFill>
                  <a:srgbClr val="C00000"/>
                </a:solidFill>
              </a:rPr>
              <a:t>’</a:t>
            </a:r>
          </a:p>
          <a:p>
            <a:pPr marL="342900" indent="-342900">
              <a:buAutoNum type="arabicPeriod"/>
            </a:pPr>
            <a:r>
              <a:rPr lang="en-US" sz="3000" dirty="0">
                <a:solidFill>
                  <a:srgbClr val="7030A0"/>
                </a:solidFill>
              </a:rPr>
              <a:t>p4 = </a:t>
            </a:r>
            <a:r>
              <a:rPr lang="en-US" sz="3000" dirty="0" err="1">
                <a:solidFill>
                  <a:srgbClr val="7030A0"/>
                </a:solidFill>
              </a:rPr>
              <a:t>ab’c</a:t>
            </a:r>
            <a:r>
              <a:rPr lang="en-US" sz="3000" dirty="0">
                <a:solidFill>
                  <a:srgbClr val="7030A0"/>
                </a:solidFill>
              </a:rPr>
              <a:t>’</a:t>
            </a:r>
          </a:p>
          <a:p>
            <a:pPr marL="342900" indent="-342900">
              <a:buAutoNum type="arabicPeriod"/>
            </a:pPr>
            <a:r>
              <a:rPr lang="en-US" sz="3000" dirty="0">
                <a:solidFill>
                  <a:srgbClr val="00B050"/>
                </a:solidFill>
              </a:rPr>
              <a:t>p7 = </a:t>
            </a:r>
            <a:r>
              <a:rPr lang="en-US" sz="3000" dirty="0" err="1">
                <a:solidFill>
                  <a:srgbClr val="00B050"/>
                </a:solidFill>
              </a:rPr>
              <a:t>abc</a:t>
            </a:r>
            <a:endParaRPr lang="en-US" sz="3000" dirty="0">
              <a:solidFill>
                <a:srgbClr val="00B050"/>
              </a:solidFill>
            </a:endParaRPr>
          </a:p>
          <a:p>
            <a:pPr marL="342900" indent="-342900">
              <a:buAutoNum type="arabicPeriod"/>
            </a:pPr>
            <a:r>
              <a:rPr lang="en-US" sz="3000" b="1" dirty="0"/>
              <a:t>f03</a:t>
            </a:r>
            <a:r>
              <a:rPr lang="en-US" sz="3000" dirty="0"/>
              <a:t> = </a:t>
            </a:r>
            <a:r>
              <a:rPr lang="en-US" sz="3000" dirty="0" err="1">
                <a:solidFill>
                  <a:srgbClr val="0070C0"/>
                </a:solidFill>
              </a:rPr>
              <a:t>a’b’c</a:t>
            </a:r>
            <a:r>
              <a:rPr lang="en-US" sz="3000" dirty="0"/>
              <a:t> + </a:t>
            </a:r>
            <a:r>
              <a:rPr lang="en-US" sz="3000" dirty="0" err="1">
                <a:solidFill>
                  <a:srgbClr val="C00000"/>
                </a:solidFill>
              </a:rPr>
              <a:t>a’bc</a:t>
            </a:r>
            <a:r>
              <a:rPr lang="en-US" sz="3000" dirty="0">
                <a:solidFill>
                  <a:srgbClr val="C00000"/>
                </a:solidFill>
              </a:rPr>
              <a:t>’</a:t>
            </a:r>
            <a:r>
              <a:rPr lang="en-US" sz="3000" dirty="0"/>
              <a:t> + </a:t>
            </a:r>
            <a:r>
              <a:rPr lang="en-US" sz="3000" dirty="0" err="1">
                <a:solidFill>
                  <a:srgbClr val="7030A0"/>
                </a:solidFill>
              </a:rPr>
              <a:t>ab’c</a:t>
            </a:r>
            <a:r>
              <a:rPr lang="en-US" sz="3000" dirty="0">
                <a:solidFill>
                  <a:srgbClr val="7030A0"/>
                </a:solidFill>
              </a:rPr>
              <a:t>’</a:t>
            </a:r>
            <a:r>
              <a:rPr lang="en-US" sz="3000" dirty="0"/>
              <a:t> + </a:t>
            </a:r>
            <a:r>
              <a:rPr lang="en-US" sz="3000" dirty="0" err="1">
                <a:solidFill>
                  <a:srgbClr val="00B050"/>
                </a:solidFill>
              </a:rPr>
              <a:t>abc</a:t>
            </a:r>
            <a:endParaRPr lang="en-US" sz="30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34689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1FD7E-837D-96AF-EACE-0688BA29D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955E5-939D-E462-E6E6-F740B0FBB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1: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f04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179711-7FAB-F951-A51A-1D8256C883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973" y="1200492"/>
            <a:ext cx="9218529" cy="490782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614D6BE-7B94-BBE2-DDB9-09B68E15E340}"/>
              </a:ext>
            </a:extLst>
          </p:cNvPr>
          <p:cNvSpPr txBox="1"/>
          <p:nvPr/>
        </p:nvSpPr>
        <p:spPr>
          <a:xfrm>
            <a:off x="4844375" y="3429000"/>
            <a:ext cx="28988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assign o1 = b | ~c;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5E7A82-76B8-8CAE-B822-53559EFBF221}"/>
              </a:ext>
            </a:extLst>
          </p:cNvPr>
          <p:cNvSpPr txBox="1"/>
          <p:nvPr/>
        </p:nvSpPr>
        <p:spPr>
          <a:xfrm>
            <a:off x="4844375" y="6026840"/>
            <a:ext cx="28988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assign a1 = ~b &amp; c;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147E6C-DA8C-7E3E-43BC-5551A6A14144}"/>
              </a:ext>
            </a:extLst>
          </p:cNvPr>
          <p:cNvSpPr txBox="1"/>
          <p:nvPr/>
        </p:nvSpPr>
        <p:spPr>
          <a:xfrm>
            <a:off x="5731237" y="4611350"/>
            <a:ext cx="28988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assign a2 = o1 &amp; a;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470480-58DA-573C-BE4A-B9F426BA2038}"/>
              </a:ext>
            </a:extLst>
          </p:cNvPr>
          <p:cNvSpPr txBox="1"/>
          <p:nvPr/>
        </p:nvSpPr>
        <p:spPr>
          <a:xfrm>
            <a:off x="8778390" y="3798332"/>
            <a:ext cx="3124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assign f04 = a1 | a2;</a:t>
            </a:r>
          </a:p>
        </p:txBody>
      </p:sp>
    </p:spTree>
    <p:extLst>
      <p:ext uri="{BB962C8B-B14F-4D97-AF65-F5344CB8AC3E}">
        <p14:creationId xmlns:p14="http://schemas.microsoft.com/office/powerpoint/2010/main" val="315745445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10">
      <a:dk1>
        <a:srgbClr val="333333"/>
      </a:dk1>
      <a:lt1>
        <a:srgbClr val="FFFFFF"/>
      </a:lt1>
      <a:dk2>
        <a:srgbClr val="FFC425"/>
      </a:dk2>
      <a:lt2>
        <a:srgbClr val="8DC63F"/>
      </a:lt2>
      <a:accent1>
        <a:srgbClr val="0079C1"/>
      </a:accent1>
      <a:accent2>
        <a:srgbClr val="00A4E4"/>
      </a:accent2>
      <a:accent3>
        <a:srgbClr val="F6A01A"/>
      </a:accent3>
      <a:accent4>
        <a:srgbClr val="5E9732"/>
      </a:accent4>
      <a:accent5>
        <a:srgbClr val="933C06"/>
      </a:accent5>
      <a:accent6>
        <a:srgbClr val="6A737B"/>
      </a:accent6>
      <a:hlink>
        <a:srgbClr val="0079C1"/>
      </a:hlink>
      <a:folHlink>
        <a:srgbClr val="00A4E4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nrel-16x9-presentation-template-3-2022.potx" id="{51B94DFA-20C9-4636-BA6A-3B18D88CAA0C}" vid="{71737395-B416-428E-A876-174174D1CE7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5716</TotalTime>
  <Words>513</Words>
  <Application>Microsoft Office PowerPoint</Application>
  <PresentationFormat>Widescreen</PresentationFormat>
  <Paragraphs>81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Arial</vt:lpstr>
      <vt:lpstr>Calibri</vt:lpstr>
      <vt:lpstr>Courier New</vt:lpstr>
      <vt:lpstr>Wingdings</vt:lpstr>
      <vt:lpstr>1_Office Theme</vt:lpstr>
      <vt:lpstr>PowerPoint Presentation</vt:lpstr>
      <vt:lpstr>Lab 1: f02</vt:lpstr>
      <vt:lpstr>Lab 1: f02</vt:lpstr>
      <vt:lpstr>Lab 1: f02 (use the cursor!)</vt:lpstr>
      <vt:lpstr>Lab 1: f02 (use the cursor!)</vt:lpstr>
      <vt:lpstr>Lab 1: f03</vt:lpstr>
      <vt:lpstr>Lab 1: f03</vt:lpstr>
      <vt:lpstr>Lab 1: f03</vt:lpstr>
      <vt:lpstr>Lab 1: f04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Prachi Sharma</dc:creator>
  <cp:lastModifiedBy>Prachi Sharma</cp:lastModifiedBy>
  <cp:revision>105</cp:revision>
  <dcterms:created xsi:type="dcterms:W3CDTF">2025-07-21T21:30:35Z</dcterms:created>
  <dcterms:modified xsi:type="dcterms:W3CDTF">2025-09-01T19:04:22Z</dcterms:modified>
</cp:coreProperties>
</file>