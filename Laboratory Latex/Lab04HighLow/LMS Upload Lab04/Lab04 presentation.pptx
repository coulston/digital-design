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2" r:id="rId2"/>
    <p:sldId id="538" r:id="rId3"/>
    <p:sldId id="638" r:id="rId4"/>
    <p:sldId id="593" r:id="rId5"/>
    <p:sldId id="635" r:id="rId6"/>
    <p:sldId id="640" r:id="rId7"/>
    <p:sldId id="641" r:id="rId8"/>
    <p:sldId id="639" r:id="rId9"/>
    <p:sldId id="637" r:id="rId10"/>
    <p:sldId id="636" r:id="rId11"/>
    <p:sldId id="642" r:id="rId12"/>
    <p:sldId id="620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CE9FC-3B4A-434A-883C-A2FE72CF8B6A}" v="9" dt="2023-02-15T00:03:53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75177" autoAdjust="0"/>
  </p:normalViewPr>
  <p:slideViewPr>
    <p:cSldViewPr snapToGrid="0" snapToObjects="1">
      <p:cViewPr>
        <p:scale>
          <a:sx n="100" d="100"/>
          <a:sy n="100" d="100"/>
        </p:scale>
        <p:origin x="274" y="-1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A1572CF3-A07D-4002-9D42-EBE2342A43BC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3344143-DFEF-4D52-99D9-983A5E2591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27A14DC-99C5-4469-A6CB-0A0674D9450F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6B75136-8FFF-4FF7-8914-405E6E03B6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Usually the &lt;title of the lab&gt; is what will be called the “System” through the rest of this document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31C61D3-7D16-468E-A305-92AEF413BB3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FA2E0B1-D0EB-4741-B119-FA8DC5E8EFEC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Replace &lt;System&gt; with the name of the 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190E9E6-6BC3-4920-A341-1EF6622CB09B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8463" y="696913"/>
            <a:ext cx="6188075" cy="34813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/>
              <a:t>Talk about the input is transformed into the output using the system architecture</a:t>
            </a:r>
          </a:p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CD80339-3916-47CE-9690-C9A38EDC18AE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4596851-7E37-4C25-9511-3059DCE9854A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603711-2A27-4EDF-A5B9-6048633CABC6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0D87E9-72F7-4931-B04D-479928632E7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8776011-6448-4802-AAA0-B64C04492AD4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2EF5624-0BB9-44FB-B78F-21894043D86E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D09A3-4B30-4E95-8EB3-74CDB7FA956B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D25FA12-031F-4398-86EA-FBB787023336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1450"/>
            <a:ext cx="10356850" cy="5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0"/>
          <p:cNvSpPr/>
          <p:nvPr userDrawn="1"/>
        </p:nvSpPr>
        <p:spPr>
          <a:xfrm>
            <a:off x="-33338" y="0"/>
            <a:ext cx="12258676" cy="6265863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6" name="Straight Connector 13"/>
          <p:cNvCxnSpPr/>
          <p:nvPr userDrawn="1"/>
        </p:nvCxnSpPr>
        <p:spPr>
          <a:xfrm>
            <a:off x="520700" y="3287713"/>
            <a:ext cx="911225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1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81000" y="6373813"/>
            <a:ext cx="32004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22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9" name="Picture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1450"/>
            <a:ext cx="10356850" cy="5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Subhead, name or date goes here</a:t>
            </a:r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FF0D68F-1B8B-49CF-AE5C-CF5815E3E8A1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F9CA019-76C1-45F4-ADB7-ACDFCA6F3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 userDrawn="1"/>
        </p:nvSpPr>
        <p:spPr>
          <a:xfrm>
            <a:off x="-9525" y="-9525"/>
            <a:ext cx="12201525" cy="6265863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73813"/>
            <a:ext cx="32004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464F6A2-C7D5-433B-8E34-829B72E62C21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54F77A1-0B04-48C4-BDE8-99A1DDEA8A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3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9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8B5E875-88E4-41FD-86D9-EE4356591135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24998E5-F65E-49AE-86CB-2A65188CB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7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420E5CB-608E-4F67-97E6-7FD994467EDF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E085313-9DF3-47D7-8625-4C4E21F39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extBox 14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9" name="Picture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2942882-1F18-49A1-B39E-21ED5A13D511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88C0CC4-2BC6-48F2-AF00-0A97DD251E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Box 10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313C5ED-3BF9-4387-927B-AAF8DCA8A579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D3F6939-C8F8-494A-8AC1-C3A31A2A64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 userDrawn="1"/>
        </p:nvSpPr>
        <p:spPr>
          <a:xfrm>
            <a:off x="838200" y="5746750"/>
            <a:ext cx="13017500" cy="779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3B9361D-46B2-48A1-8262-73AAF473BF0D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D1DE6C4-22B7-4D08-9A44-B7D3618A06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9525" y="-9525"/>
            <a:ext cx="12201525" cy="686752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552450"/>
            <a:ext cx="10356850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extBox 10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7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8C47153-606C-4A5B-99AE-C6B1E1154DEF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86B30BE-C1E7-432F-B70D-F4F1AF485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-9525" y="-9525"/>
            <a:ext cx="5183188" cy="694213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2B28FBA-263B-44BB-9505-C0549B37AECA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6F9B076-A2A4-4F19-95A4-2705D1A71D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1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1212D38-D536-4083-A78D-E969C57FCFF4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256801D-19D0-4277-A2AC-F44E7E2D88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1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ACB20DA-0DD9-400F-8190-7E7C0BB22709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658C03D-E28C-4569-B1C8-35176EA47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2pPr>
      <a:lvl3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3pPr>
      <a:lvl4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4pPr>
      <a:lvl5pPr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5pPr>
      <a:lvl6pPr marL="4572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6pPr>
      <a:lvl7pPr marL="9144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7pPr>
      <a:lvl8pPr marL="13716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8pPr>
      <a:lvl9pPr marL="18288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9pPr>
    </p:titleStyle>
    <p:bodyStyle>
      <a:lvl1pPr marL="227013" indent="-227013" algn="l" defTabSz="912813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42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14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5986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5813" indent="-227013" algn="l" defTabSz="912813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288" y="1741488"/>
            <a:ext cx="10804525" cy="1220787"/>
          </a:xfrm>
        </p:spPr>
        <p:txBody>
          <a:bodyPr rtlCol="0">
            <a:normAutofit fontScale="90000"/>
          </a:bodyPr>
          <a:lstStyle/>
          <a:p>
            <a:pPr defTabSz="914377" fontAlgn="auto">
              <a:spcAft>
                <a:spcPts val="0"/>
              </a:spcAft>
              <a:defRPr/>
            </a:pPr>
            <a:r>
              <a:rPr lang="en-US" dirty="0"/>
              <a:t>EENG 284</a:t>
            </a:r>
            <a:br>
              <a:rPr lang="en-US" dirty="0"/>
            </a:br>
            <a:r>
              <a:rPr lang="en-US" dirty="0"/>
              <a:t>Lab 4</a:t>
            </a:r>
          </a:p>
        </p:txBody>
      </p:sp>
      <p:sp>
        <p:nvSpPr>
          <p:cNvPr id="17410" name="Subtitle 2"/>
          <p:cNvSpPr>
            <a:spLocks noGrp="1"/>
          </p:cNvSpPr>
          <p:nvPr>
            <p:ph type="subTitle" idx="1"/>
          </p:nvPr>
        </p:nvSpPr>
        <p:spPr>
          <a:xfrm>
            <a:off x="395288" y="3736975"/>
            <a:ext cx="9144000" cy="1655763"/>
          </a:xfrm>
        </p:spPr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Hi Lo Guessing Game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03688"/>
          </a:xfrm>
        </p:spPr>
        <p:txBody>
          <a:bodyPr rtlCol="0">
            <a:normAutofit fontScale="92500" lnSpcReduction="10000"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Verilog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Generics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LFSR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Using basic building blocks</a:t>
            </a:r>
          </a:p>
          <a:p>
            <a:pPr marL="1142971" lvl="2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3:8 decoder</a:t>
            </a:r>
          </a:p>
          <a:p>
            <a:pPr marL="1142971" lvl="2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2:1 mux</a:t>
            </a:r>
          </a:p>
          <a:p>
            <a:pPr marL="1142971" lvl="2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Compare</a:t>
            </a:r>
          </a:p>
          <a:p>
            <a:pPr marL="1142971" lvl="2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Mux</a:t>
            </a:r>
          </a:p>
          <a:p>
            <a:pPr marL="1142971" lvl="2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Hex2Seven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Simulation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Use of Do files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Synthesis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Game Play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6DC496-3A33-4380-ACA1-7D1CC189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61" y="2312686"/>
            <a:ext cx="11584478" cy="31594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System architecture</a:t>
            </a:r>
          </a:p>
        </p:txBody>
      </p:sp>
      <p:sp>
        <p:nvSpPr>
          <p:cNvPr id="23554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6695" indent="-226695"/>
            <a:r>
              <a:rPr lang="en-US" dirty="0">
                <a:latin typeface="Arial"/>
                <a:cs typeface="Arial"/>
              </a:rPr>
              <a:t>Design</a:t>
            </a:r>
          </a:p>
          <a:p>
            <a:pPr marL="683895" lvl="1" indent="-226695"/>
            <a:r>
              <a:rPr lang="en-US" dirty="0">
                <a:latin typeface="Arial"/>
                <a:cs typeface="Arial"/>
              </a:rPr>
              <a:t>Linear Feedback Shift Register</a:t>
            </a:r>
          </a:p>
          <a:p>
            <a:pPr marL="683895" lvl="1" indent="-226695"/>
            <a:r>
              <a:rPr lang="en-US" dirty="0" err="1">
                <a:latin typeface="Arial"/>
                <a:cs typeface="Arial"/>
              </a:rPr>
              <a:t>hiLoWin</a:t>
            </a:r>
          </a:p>
          <a:p>
            <a:pPr marL="226695" indent="-226695"/>
            <a:r>
              <a:rPr lang="en-US" dirty="0">
                <a:latin typeface="Arial"/>
                <a:cs typeface="Arial"/>
              </a:rPr>
              <a:t>Instantiate</a:t>
            </a:r>
          </a:p>
          <a:p>
            <a:pPr marL="683895" lvl="1" indent="-226695"/>
            <a:r>
              <a:rPr lang="en-US" dirty="0">
                <a:latin typeface="Arial"/>
                <a:cs typeface="Arial"/>
              </a:rPr>
              <a:t>2:1 mux (provided)</a:t>
            </a:r>
          </a:p>
          <a:p>
            <a:pPr marL="683895" lvl="1" indent="-226695"/>
            <a:r>
              <a:rPr lang="en-US" dirty="0">
                <a:latin typeface="Arial"/>
                <a:cs typeface="Arial"/>
              </a:rPr>
              <a:t>Compare (provided)</a:t>
            </a:r>
          </a:p>
          <a:p>
            <a:pPr marL="683895" lvl="1" indent="-226695"/>
            <a:r>
              <a:rPr lang="en-US" dirty="0">
                <a:latin typeface="Arial"/>
                <a:cs typeface="Arial"/>
              </a:rPr>
              <a:t>2:4 decoder</a:t>
            </a:r>
          </a:p>
          <a:p>
            <a:pPr marL="683895" lvl="1" indent="-226695"/>
            <a:r>
              <a:rPr lang="en-US" dirty="0">
                <a:latin typeface="Arial"/>
                <a:cs typeface="Arial"/>
              </a:rPr>
              <a:t>Hex27 (use lab 2 code)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BA37C-B561-98ED-8969-CA8B6FA68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575" y="823694"/>
            <a:ext cx="5062850" cy="4670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LFSR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Input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4-bit vector seed</a:t>
            </a:r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Output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4-bit random</a:t>
            </a:r>
          </a:p>
          <a:p>
            <a:pPr marL="0" indent="0" defTabSz="914377" fontAlgn="auto">
              <a:spcAft>
                <a:spcPts val="0"/>
              </a:spcAft>
              <a:buFont typeface="Arial"/>
              <a:buNone/>
              <a:defRPr/>
            </a:pPr>
            <a:endParaRPr lang="en-US" dirty="0"/>
          </a:p>
          <a:p>
            <a:pPr marL="228594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Implement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Use 4 assignment statements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Shift using bit indices</a:t>
            </a:r>
          </a:p>
          <a:p>
            <a:pPr marL="685783" lvl="1" indent="-228594" defTabSz="914377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Use </a:t>
            </a:r>
            <a:r>
              <a:rPr lang="en-US" dirty="0" err="1"/>
              <a:t>xor</a:t>
            </a:r>
            <a:r>
              <a:rPr lang="en-US" dirty="0"/>
              <a:t> function ^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97B374-C7B9-48CF-83F8-CE59ECB96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770" y="583603"/>
            <a:ext cx="5936136" cy="3745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2:1 MUX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Input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2 N-bit vectors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1 bit select</a:t>
            </a:r>
          </a:p>
          <a:p>
            <a:r>
              <a:rPr lang="en-US" dirty="0">
                <a:latin typeface="Arial" charset="0"/>
                <a:cs typeface="Arial" charset="0"/>
              </a:rPr>
              <a:t>Output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N-bit vector selected</a:t>
            </a:r>
          </a:p>
          <a:p>
            <a:r>
              <a:rPr lang="en-US" dirty="0">
                <a:latin typeface="Arial" charset="0"/>
                <a:cs typeface="Arial" charset="0"/>
              </a:rPr>
              <a:t>Behavior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Switches the selected input to the output</a:t>
            </a:r>
          </a:p>
          <a:p>
            <a:r>
              <a:rPr lang="en-US" dirty="0">
                <a:latin typeface="Arial" charset="0"/>
                <a:cs typeface="Arial" charset="0"/>
              </a:rPr>
              <a:t>Provided Code</a:t>
            </a:r>
          </a:p>
          <a:p>
            <a:pPr lvl="1"/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80375" y="712788"/>
            <a:ext cx="3544888" cy="19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672138" y="3041650"/>
            <a:ext cx="5845175" cy="9817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6350" indent="-6350"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// Module definition for the 2:1 mux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6350" indent="-6350"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module genericMux2x1(y1, y0,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sel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, f);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 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// Module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instantation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for a 2:1 mux in the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hiLow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digital circuit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6350" indent="-6350"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 genericMux2x1 #(7)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muxHex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( 7 ’ b1111111 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randHex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randBut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randSeg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) ;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Comparator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Input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2 N-bit vectors</a:t>
            </a:r>
          </a:p>
          <a:p>
            <a:r>
              <a:rPr lang="en-US" dirty="0">
                <a:latin typeface="Arial" charset="0"/>
                <a:cs typeface="Arial" charset="0"/>
              </a:rPr>
              <a:t>Output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GT = 1 when X &gt; Y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LT = 1 when X &lt; Y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EQ = 1 when X == Y</a:t>
            </a:r>
          </a:p>
          <a:p>
            <a:r>
              <a:rPr lang="en-US" dirty="0">
                <a:latin typeface="Arial" charset="0"/>
                <a:cs typeface="Arial" charset="0"/>
              </a:rPr>
              <a:t>Behavior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Switches the selected input to the output</a:t>
            </a:r>
          </a:p>
          <a:p>
            <a:r>
              <a:rPr lang="en-US" dirty="0">
                <a:latin typeface="Arial" charset="0"/>
                <a:cs typeface="Arial" charset="0"/>
              </a:rPr>
              <a:t>Provided Code</a:t>
            </a: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38913" y="1825625"/>
            <a:ext cx="3779837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hiLow Win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Input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3-bit ones hot </a:t>
            </a:r>
          </a:p>
          <a:p>
            <a:r>
              <a:rPr lang="en-US" dirty="0">
                <a:latin typeface="Arial" charset="0"/>
                <a:cs typeface="Arial" charset="0"/>
              </a:rPr>
              <a:t>Output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7-bit segments showing state of play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Implement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Consider always case statement</a:t>
            </a:r>
          </a:p>
        </p:txBody>
      </p:sp>
      <p:pic>
        <p:nvPicPr>
          <p:cNvPr id="3174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8950" y="2593975"/>
            <a:ext cx="4940300" cy="195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hiLow Module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Glue together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Module instantiations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Always/case statements for 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2:4 decoder</a:t>
            </a:r>
          </a:p>
          <a:p>
            <a:pPr lvl="2"/>
            <a:r>
              <a:rPr lang="en-US" dirty="0" err="1">
                <a:latin typeface="Arial" charset="0"/>
                <a:cs typeface="Arial" charset="0"/>
              </a:rPr>
              <a:t>hiLoWin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Reg types for always/case statement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Wire for output from instantiations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86971-A767-EFAB-5ABC-4CFC76D57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170" y="434081"/>
            <a:ext cx="5100711" cy="4705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Provided Code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Generics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Generics allow you to specify the width of input signal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2:1 Mux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Comparator</a:t>
            </a:r>
          </a:p>
          <a:p>
            <a:r>
              <a:rPr lang="en-US" dirty="0">
                <a:latin typeface="Arial" charset="0"/>
                <a:cs typeface="Arial" charset="0"/>
              </a:rPr>
              <a:t>Testbench</a:t>
            </a:r>
          </a:p>
          <a:p>
            <a:pPr lvl="1"/>
            <a:r>
              <a:rPr lang="en-US" dirty="0" err="1">
                <a:latin typeface="Arial" charset="0"/>
                <a:cs typeface="Arial" charset="0"/>
              </a:rPr>
              <a:t>hiLow</a:t>
            </a:r>
            <a:endParaRPr lang="en-US" dirty="0">
              <a:latin typeface="Arial" charset="0"/>
              <a:cs typeface="Arial" charset="0"/>
            </a:endParaRP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203825" y="2892425"/>
            <a:ext cx="5846763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6350" indent="-6350"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// Module definition for the 2:1 mux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6350" indent="-6350"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module genericMux2x1(y1, y0,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sel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, f);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 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// Module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instantation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for a 2:1 mux in the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hiLow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digital circuit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6350" indent="-6350" fontAlgn="auto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 genericMux2x1 #(7)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muxHex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( 7 ’ b1111111 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randHex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randBut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 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randSeg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  <a:ea typeface="Cambria" panose="02040503050406030204" pitchFamily="18" charset="0"/>
                <a:cs typeface="Cambria" panose="02040503050406030204" pitchFamily="18" charset="0"/>
              </a:rPr>
              <a:t>); ; </a:t>
            </a:r>
            <a:endParaRPr lang="en-US" sz="1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291E-2CF7-1C05-FE60-008E7DAB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6815-5ADE-BBE3-D539-F70B070DB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file</a:t>
            </a:r>
          </a:p>
          <a:p>
            <a:pPr lvl="1"/>
            <a:r>
              <a:rPr lang="en-US" dirty="0"/>
              <a:t>Automates adding signals to timing diagram</a:t>
            </a:r>
          </a:p>
          <a:p>
            <a:r>
              <a:rPr lang="en-US" dirty="0"/>
              <a:t>In lab modules, click How To Guides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05C1C-866A-F3E4-AEEA-E28780DC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25" y="3217972"/>
            <a:ext cx="6656021" cy="31015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49C66DE-81FD-C809-9F49-25910D3862D9}"/>
              </a:ext>
            </a:extLst>
          </p:cNvPr>
          <p:cNvSpPr/>
          <p:nvPr/>
        </p:nvSpPr>
        <p:spPr>
          <a:xfrm>
            <a:off x="2377440" y="5570220"/>
            <a:ext cx="1668780" cy="396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81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Deliverables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9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LFSR code and testbench for LFSR</a:t>
            </a:r>
          </a:p>
          <a:p>
            <a:r>
              <a:rPr lang="en-US" dirty="0">
                <a:latin typeface="Arial" charset="0"/>
                <a:cs typeface="Arial" charset="0"/>
              </a:rPr>
              <a:t>Pin assignment</a:t>
            </a:r>
          </a:p>
          <a:p>
            <a:r>
              <a:rPr lang="en-US" dirty="0" err="1">
                <a:latin typeface="Arial" charset="0"/>
                <a:cs typeface="Arial" charset="0"/>
              </a:rPr>
              <a:t>hiLow</a:t>
            </a:r>
            <a:r>
              <a:rPr lang="en-US" dirty="0">
                <a:latin typeface="Arial" charset="0"/>
                <a:cs typeface="Arial" charset="0"/>
              </a:rPr>
              <a:t> Testbench output</a:t>
            </a:r>
          </a:p>
          <a:p>
            <a:r>
              <a:rPr lang="en-US" dirty="0">
                <a:latin typeface="Arial" charset="0"/>
                <a:cs typeface="Arial" charset="0"/>
              </a:rPr>
              <a:t>Working </a:t>
            </a:r>
            <a:r>
              <a:rPr lang="en-US" dirty="0" err="1">
                <a:latin typeface="Arial" charset="0"/>
                <a:cs typeface="Arial" charset="0"/>
              </a:rPr>
              <a:t>hiLow</a:t>
            </a:r>
            <a:r>
              <a:rPr lang="en-US" dirty="0">
                <a:latin typeface="Arial" charset="0"/>
                <a:cs typeface="Arial" charset="0"/>
              </a:rPr>
              <a:t> implementation on Cyclone V GX boards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9938" y="3984625"/>
            <a:ext cx="94996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3" ma:contentTypeDescription="Create a new document." ma:contentTypeScope="" ma:versionID="291df287ff1ec43df0b312dda8e1454e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2af1a4df17c9c95860ef326849b47e11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DB565B-A33A-4824-B3B0-D3585535CA6E}"/>
</file>

<file path=customXml/itemProps2.xml><?xml version="1.0" encoding="utf-8"?>
<ds:datastoreItem xmlns:ds="http://schemas.openxmlformats.org/officeDocument/2006/customXml" ds:itemID="{C3A0E357-1809-4E29-85BA-33EB73A5BC8C}"/>
</file>

<file path=customXml/itemProps3.xml><?xml version="1.0" encoding="utf-8"?>
<ds:datastoreItem xmlns:ds="http://schemas.openxmlformats.org/officeDocument/2006/customXml" ds:itemID="{E862A274-C511-4340-B983-4E38A09E020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3655</TotalTime>
  <Words>395</Words>
  <Application>Microsoft Office PowerPoint</Application>
  <PresentationFormat>Widescreen</PresentationFormat>
  <Paragraphs>110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Gotham</vt:lpstr>
      <vt:lpstr>Gotham Book</vt:lpstr>
      <vt:lpstr>Office Theme</vt:lpstr>
      <vt:lpstr>EENG 284 Lab 4</vt:lpstr>
      <vt:lpstr>Lab Objectives</vt:lpstr>
      <vt:lpstr>Game Play</vt:lpstr>
      <vt:lpstr>System architecture</vt:lpstr>
      <vt:lpstr>LFSR</vt:lpstr>
      <vt:lpstr>2:1 MUX</vt:lpstr>
      <vt:lpstr>Comparator</vt:lpstr>
      <vt:lpstr>hiLow Win</vt:lpstr>
      <vt:lpstr>hiLow Module</vt:lpstr>
      <vt:lpstr>Provided Code</vt:lpstr>
      <vt:lpstr>Do File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Prachi Sharma</cp:lastModifiedBy>
  <cp:revision>107</cp:revision>
  <dcterms:created xsi:type="dcterms:W3CDTF">2017-08-01T15:06:47Z</dcterms:created>
  <dcterms:modified xsi:type="dcterms:W3CDTF">2025-09-30T03:49:03Z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