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4"/>
  </p:notesMasterIdLst>
  <p:sldIdLst>
    <p:sldId id="262" r:id="rId6"/>
    <p:sldId id="538" r:id="rId7"/>
    <p:sldId id="257" r:id="rId8"/>
    <p:sldId id="593" r:id="rId9"/>
    <p:sldId id="595" r:id="rId10"/>
    <p:sldId id="637" r:id="rId11"/>
    <p:sldId id="598" r:id="rId12"/>
    <p:sldId id="599" r:id="rId13"/>
  </p:sldIdLst>
  <p:sldSz cx="9144000" cy="6858000" type="screen4x3"/>
  <p:notesSz cx="69850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u="sng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u="sng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u="sng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u="sng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u="sng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u="sng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u="sng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u="sng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u="sng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82" autoAdjust="0"/>
    <p:restoredTop sz="96374" autoAdjust="0"/>
  </p:normalViewPr>
  <p:slideViewPr>
    <p:cSldViewPr snapToGrid="0" showGuides="1">
      <p:cViewPr varScale="1">
        <p:scale>
          <a:sx n="96" d="100"/>
          <a:sy n="96" d="100"/>
        </p:scale>
        <p:origin x="1301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CCF0F22-0B43-A4E7-A6E7-658B9CF00A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957" tIns="46478" rIns="92957" bIns="46478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b="0" u="none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9CC3C52-DC5C-FE28-8C51-2C3439C6384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56050" y="0"/>
            <a:ext cx="3027363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957" tIns="46478" rIns="92957" bIns="46478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 b="0" u="none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274C6C4-43D0-C3B8-DD19-B166C5D27B2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3163" y="696913"/>
            <a:ext cx="464026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6E908DA-655D-2BA8-675F-B505C47A887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8500" y="4410075"/>
            <a:ext cx="5588000" cy="4176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957" tIns="46478" rIns="92957" bIns="464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057A43E-4D29-59A5-EA4C-B6B6E64D54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7363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957" tIns="46478" rIns="92957" bIns="46478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b="0" u="none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B3D6350-1807-DCC4-BFA1-E21A51A38F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6050" y="8818563"/>
            <a:ext cx="3027363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957" tIns="46478" rIns="92957" bIns="46478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 b="0" u="none"/>
            </a:lvl1pPr>
          </a:lstStyle>
          <a:p>
            <a:pPr>
              <a:defRPr/>
            </a:pPr>
            <a:fld id="{44D91A6E-1E8B-AC48-9E87-C8A70003FD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0C4D68-66B1-48D6-AAFD-4ABFAB720F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E3DB90-5E13-3201-2EB2-242D5CB8A1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8C05D55-F1B9-8EB9-3AA4-594A3D761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19F7F14-7817-CE9D-86CA-E6D01D5B11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C109EAB-B09F-A260-8D3D-0629DE5568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9D86902-76A2-DA7E-A319-3243A26FBE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A37C483-D1D6-86F0-1838-09226AE183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/>
            <a:r>
              <a:rPr lang="en-US" altLang="en-US" b="1"/>
              <a:t>Lines with the same name are connected together.  For example, the rand button input is connected to the 2:1 mux in the upper left corner of the FPGA.</a:t>
            </a:r>
          </a:p>
          <a:p>
            <a:pPr marL="228600" indent="-228600"/>
            <a:endParaRPr lang="en-US" altLang="en-US" b="1"/>
          </a:p>
          <a:p>
            <a:pPr marL="228600" indent="-228600"/>
            <a:r>
              <a:rPr lang="en-US" altLang="en-US" b="1"/>
              <a:t>When a signal is sent to multiple devices in close proximity, a grey line is used to show that the signal is “underneath a device.   For example, the rand signal is sent to the select input of both 2:1 muxes in the upper left corner of the schematic.  These unconnected connections are called “air-wires.”</a:t>
            </a:r>
          </a:p>
          <a:p>
            <a:pPr marL="228600" indent="-228600"/>
            <a:endParaRPr lang="en-US" altLang="en-US" b="1"/>
          </a:p>
          <a:p>
            <a:pPr marL="228600" indent="-228600"/>
            <a:r>
              <a:rPr lang="en-US" altLang="en-US" b="1"/>
              <a:t>The input signals are color-coded to correspond to the colors used in Figure 1.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07F901E-00AA-A2CB-CAA6-1A40A138C6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5A7FC18-8EC4-B466-A769-F66CDA0DC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/>
            <a:r>
              <a:rPr lang="en-US" altLang="en-US" b="1"/>
              <a:t>Lines with the same name are connected together.  For example, the rand button input is connected to the 2:1 mux in the upper left corner of the FPGA.</a:t>
            </a:r>
          </a:p>
          <a:p>
            <a:pPr marL="228600" indent="-228600"/>
            <a:endParaRPr lang="en-US" altLang="en-US" b="1"/>
          </a:p>
          <a:p>
            <a:pPr marL="228600" indent="-228600"/>
            <a:r>
              <a:rPr lang="en-US" altLang="en-US" b="1"/>
              <a:t>When a signal is sent to multiple devices in close proximity, a grey line is used to show that the signal is “underneath a device.   For example, the rand signal is sent to the select input of both 2:1 muxes in the upper left corner of the schematic.  These unconnected connections are called “air-wires.”</a:t>
            </a:r>
          </a:p>
          <a:p>
            <a:pPr marL="228600" indent="-228600"/>
            <a:endParaRPr lang="en-US" altLang="en-US" b="1"/>
          </a:p>
          <a:p>
            <a:pPr marL="228600" indent="-228600"/>
            <a:r>
              <a:rPr lang="en-US" altLang="en-US" b="1"/>
              <a:t>The input signals are color-coded to correspond to the colors used in Figure 1.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71622E-FCC9-20A5-1DAC-DD75A08951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300B75-1B3D-5002-8A7B-4CE488206A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FEF088-C00E-3931-7253-09C527735B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AD1CB-16D3-2F44-A651-DFDE759E0F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4552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810501-20E0-A618-CABA-CF1605675C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289D81-190A-315F-87D7-0B4532CE88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D08925-EDD9-C1CB-9BCE-1F900F9B54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77C7A-698C-D342-A288-20DB1ABC1C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139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C68FAB-192E-2D3D-01A9-2D81698DE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50D4EB-0C64-EAE6-03A7-B908DB4345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962E99-9E4F-7B39-6DC7-6763933071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1E9FC-C967-0343-8568-D3B222ABA6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42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F84F1A-922E-A743-3CBF-C443A5716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60E69-3B8E-70B9-3151-AEDC2232BC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9EAB1-37E6-BF35-2BE7-D077CDBB83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D1F73-308D-284F-B9DD-D24D907EE6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086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1715BA-B079-5F8C-2500-E0424DBD40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BC12D8-A1D1-154E-4BA9-4A847226BE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F50E2CD-96C1-DE78-7D03-C9577B93AE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8FD1C-EE22-F643-ABD8-0C347EE5D1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808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6900DE3-80E4-8C80-AC64-159D25A4C3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26975D-8F87-F6E2-63B6-DC479EE6F9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CE9FEFF-F2DF-2B24-0F80-FFA2EA43BF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5BEA86-F470-5B4D-9685-85DE7FBB24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722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115EB1D-B5DB-9781-0BEB-AA573E8823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2A06639-D215-FA4C-0A04-4470D6BA88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63FB69-4A54-AAF3-7F67-BD91DE3AD1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4726B-D535-664C-858C-C5EC27E790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C03117-2D72-609E-D2D5-DB55A44E87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FDFAA-3605-A526-418F-12F549F2A8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64C89-7F46-7032-A632-280D22A1F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E535C-09C7-9348-BD00-B1AC533DA5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933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B77170-22C0-09CE-BA7A-2C1BE499D3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228B6-01D5-D84D-AFC7-809AA5CD05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8AAEA4-A43B-301D-F3E1-F2FC5B642D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96568-2224-C846-A3F6-6DD366151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6485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1CD805-72AD-9C5D-5390-3724BDF05A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30816B-10B6-4248-197C-1A9FFD010B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C63FEE-EA13-49D9-D1B4-5E9D96682B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1B641-51A3-2442-81BF-AED066719F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60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0D574A-A048-6953-EEB7-8808A8682E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D06C43-C642-DB7C-EA0B-8DDFA4A4A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520A13-49B0-E09F-9471-B0F07EE944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1674F-6CDB-4946-84FC-AC7631EA06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41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314" y="170979"/>
            <a:ext cx="7767686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25536" y="0"/>
            <a:ext cx="9195071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390659" y="3287006"/>
            <a:ext cx="6833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285750" y="6373243"/>
            <a:ext cx="24003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5608530" y="6407925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296528" y="3737295"/>
            <a:ext cx="6858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314" y="170977"/>
            <a:ext cx="7767686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296528" y="2243579"/>
            <a:ext cx="8102754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405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5496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7296" y="-9729"/>
            <a:ext cx="9151296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709741"/>
            <a:ext cx="7886700" cy="2852737"/>
          </a:xfrm>
        </p:spPr>
        <p:txBody>
          <a:bodyPr anchor="b"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285750" y="6373243"/>
            <a:ext cx="24003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5608530" y="6407925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610878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7296" y="6265546"/>
            <a:ext cx="9151296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5608530" y="6398498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285753" y="6381481"/>
            <a:ext cx="2400296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98951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7296" y="6265546"/>
            <a:ext cx="9151296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5608530" y="6398498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285753" y="6381481"/>
            <a:ext cx="2400296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76755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7296" y="6265546"/>
            <a:ext cx="9151296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5608530" y="6398498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285753" y="6381481"/>
            <a:ext cx="2400296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75615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7296" y="6265546"/>
            <a:ext cx="9151296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5608530" y="6398498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285753" y="6381481"/>
            <a:ext cx="2400296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06299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628652" y="5746528"/>
            <a:ext cx="9762563" cy="77932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33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9144000" cy="557703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12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7536" y="-10048"/>
            <a:ext cx="9151536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314" y="552941"/>
            <a:ext cx="7767686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34799" y="2531096"/>
            <a:ext cx="6858000" cy="1655762"/>
          </a:xfrm>
        </p:spPr>
        <p:txBody>
          <a:bodyPr>
            <a:normAutofit/>
          </a:bodyPr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1491658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295189" y="982465"/>
            <a:ext cx="3646804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295190" y="3052261"/>
            <a:ext cx="3646803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1" y="4"/>
            <a:ext cx="5168246" cy="6857999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5608530" y="6407925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251140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7296" y="6265546"/>
            <a:ext cx="9151296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5608530" y="6398498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285753" y="6381481"/>
            <a:ext cx="2400296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643766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7536" y="-10049"/>
            <a:ext cx="3887392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7544" y="472281"/>
            <a:ext cx="2949178" cy="1600200"/>
          </a:xfrm>
        </p:spPr>
        <p:txBody>
          <a:bodyPr anchor="b">
            <a:normAutofit/>
          </a:bodyPr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2" y="3"/>
            <a:ext cx="5256609" cy="6857999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7544" y="2072481"/>
            <a:ext cx="2949178" cy="3811588"/>
          </a:xfrm>
        </p:spPr>
        <p:txBody>
          <a:bodyPr>
            <a:normAutofit/>
          </a:bodyPr>
          <a:lstStyle>
            <a:lvl1pPr marL="342892" indent="-342892">
              <a:buFont typeface="Arial" charset="0"/>
              <a:buChar char="•"/>
              <a:defRPr sz="2100">
                <a:solidFill>
                  <a:schemeClr val="bg1"/>
                </a:solidFill>
              </a:defRPr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285753" y="6381481"/>
            <a:ext cx="2400296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16832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7536" y="6265546"/>
            <a:ext cx="9151536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5608530" y="6398498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285753" y="6381481"/>
            <a:ext cx="2400296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576329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7536" y="6265546"/>
            <a:ext cx="9151536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5608530" y="6398498"/>
            <a:ext cx="336715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35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35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285753" y="6381481"/>
            <a:ext cx="2400296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1022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CE13BF4-C7FD-0964-3F1F-800CEC0323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20C3710-D1D9-AC2F-437D-33066B68A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23894E-423E-D8AA-02BE-AF140C51A0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 u="none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CC97D76-51CA-0939-1364-4B0FFE8DB0E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u="none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9B42522-A75F-5DEB-8B06-7240320241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u="none"/>
            </a:lvl1pPr>
          </a:lstStyle>
          <a:p>
            <a:pPr>
              <a:defRPr/>
            </a:pPr>
            <a:fld id="{6BD802C2-C9A3-8145-BA20-43263895ED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377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EENG 284</a:t>
            </a:r>
            <a:br>
              <a:rPr lang="en-US" dirty="0"/>
            </a:br>
            <a:r>
              <a:rPr lang="en-US" dirty="0"/>
              <a:t>Lab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Calculator with Friendly Display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Calculator that can </a:t>
            </a:r>
          </a:p>
          <a:p>
            <a:pPr lvl="1"/>
            <a:r>
              <a:rPr lang="en-US" dirty="0"/>
              <a:t>add/sub 4-bit values</a:t>
            </a:r>
          </a:p>
          <a:p>
            <a:pPr lvl="1"/>
            <a:r>
              <a:rPr lang="en-US" dirty="0"/>
              <a:t>unsigned and signed</a:t>
            </a:r>
          </a:p>
          <a:p>
            <a:pPr lvl="1"/>
            <a:r>
              <a:rPr lang="en-US" dirty="0"/>
              <a:t>Display as decimal digital</a:t>
            </a:r>
          </a:p>
          <a:p>
            <a:r>
              <a:rPr lang="en-US" dirty="0"/>
              <a:t>Logic</a:t>
            </a:r>
          </a:p>
          <a:p>
            <a:pPr lvl="1"/>
            <a:r>
              <a:rPr lang="en-US" dirty="0"/>
              <a:t>2’s complement numbering</a:t>
            </a:r>
          </a:p>
          <a:p>
            <a:pPr lvl="1"/>
            <a:r>
              <a:rPr lang="en-US" dirty="0"/>
              <a:t>Arithmetic circuit elements</a:t>
            </a:r>
          </a:p>
          <a:p>
            <a:r>
              <a:rPr lang="en-US" dirty="0"/>
              <a:t>Verilog</a:t>
            </a:r>
          </a:p>
          <a:p>
            <a:r>
              <a:rPr lang="en-US" dirty="0"/>
              <a:t>Simulation</a:t>
            </a:r>
          </a:p>
          <a:p>
            <a:r>
              <a:rPr lang="en-US" dirty="0"/>
              <a:t>Synthesis</a:t>
            </a:r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CE3D-03D3-C977-DF70-3A90BAC1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06:Adder/Subtractor w/ decimal display </a:t>
            </a:r>
          </a:p>
        </p:txBody>
      </p:sp>
      <p:sp>
        <p:nvSpPr>
          <p:cNvPr id="3074" name="Slide Number Placeholder 3">
            <a:extLst>
              <a:ext uri="{FF2B5EF4-FFF2-40B4-BE49-F238E27FC236}">
                <a16:creationId xmlns:a16="http://schemas.microsoft.com/office/drawing/2014/main" id="{1C667BBC-6266-3E2B-96AC-E5FD557A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64A7F2-90C2-3C4A-95F0-B32635D1895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9506E0AC-830E-3E23-8DA0-7AE115C4757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1FB9987-0895-DE41-AC77-BE0F6620611E}" type="slidenum">
              <a:rPr lang="en-US" altLang="en-US" sz="1400" b="0" u="none"/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b="0" u="none"/>
          </a:p>
        </p:txBody>
      </p:sp>
      <p:sp>
        <p:nvSpPr>
          <p:cNvPr id="3081" name="Rectangle 18">
            <a:extLst>
              <a:ext uri="{FF2B5EF4-FFF2-40B4-BE49-F238E27FC236}">
                <a16:creationId xmlns:a16="http://schemas.microsoft.com/office/drawing/2014/main" id="{E8BE5BDC-62D6-4077-9941-EF7E7A33A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788379"/>
            <a:ext cx="8096250" cy="3733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-9522" tIns="0" rIns="0" bIns="39675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basic calculator that can add or subtract </a:t>
            </a:r>
            <a:r>
              <a:rPr lang="en-US" altLang="en-US" sz="2400" i="1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4-bit</a:t>
            </a: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values.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b="0" u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ct val="0"/>
              </a:spcBef>
            </a:pP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 slide switches to the </a:t>
            </a:r>
            <a:r>
              <a:rPr lang="en-US" altLang="en-US" sz="2400" i="1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400" i="1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 of an </a:t>
            </a:r>
            <a:r>
              <a:rPr lang="en-US" altLang="en-US" sz="2400" b="0" i="1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adder/ subtractor</a:t>
            </a: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which sends its output to a seven-segment display.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will display the inputs and output as 2-digit decimal values. 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user enters a pair of 4-bit operands using the left-most slide switches, </a:t>
            </a:r>
            <a:r>
              <a:rPr lang="en-US" altLang="en-US" sz="2400" i="1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xSlide</a:t>
            </a: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400" i="1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ySlide</a:t>
            </a: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value entered for </a:t>
            </a:r>
            <a:r>
              <a:rPr lang="en-US" altLang="en-US" sz="2400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xSlide</a:t>
            </a: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400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ySlide</a:t>
            </a:r>
            <a:r>
              <a:rPr lang="en-US" altLang="en-US" sz="24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displayed on two seven-segment displays each.   </a:t>
            </a:r>
          </a:p>
        </p:txBody>
      </p:sp>
      <p:sp>
        <p:nvSpPr>
          <p:cNvPr id="3082" name="AutoShape 22" descr="Pin on Art Attack.">
            <a:extLst>
              <a:ext uri="{FF2B5EF4-FFF2-40B4-BE49-F238E27FC236}">
                <a16:creationId xmlns:a16="http://schemas.microsoft.com/office/drawing/2014/main" id="{03E075A5-CB86-AD31-4777-8EAF9B82A2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A33FD5A7-1775-F7E3-0747-35D003AC1C1E}"/>
              </a:ext>
            </a:extLst>
          </p:cNvPr>
          <p:cNvSpPr txBox="1">
            <a:spLocks noGrp="1"/>
          </p:cNvSpPr>
          <p:nvPr/>
        </p:nvSpPr>
        <p:spPr bwMode="auto">
          <a:xfrm>
            <a:off x="6569075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3B3A32D-8A35-3F48-A2D1-CB6EFB43FD56}" type="slidenum">
              <a:rPr lang="en-US" altLang="en-US" sz="1400" b="0" u="none"/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b="0" u="none"/>
          </a:p>
        </p:txBody>
      </p:sp>
      <p:sp>
        <p:nvSpPr>
          <p:cNvPr id="5127" name="Rectangle 18">
            <a:extLst>
              <a:ext uri="{FF2B5EF4-FFF2-40B4-BE49-F238E27FC236}">
                <a16:creationId xmlns:a16="http://schemas.microsoft.com/office/drawing/2014/main" id="{99E54AA7-F535-CA6E-340A-D13E1A74E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3823468"/>
            <a:ext cx="8275637" cy="2625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-9522" tIns="0" rIns="0" bIns="39675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US" altLang="en-US" sz="23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leftmost button, </a:t>
            </a:r>
            <a:r>
              <a:rPr lang="en-US" altLang="en-US" sz="2300" b="0" u="none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add/Sub</a:t>
            </a:r>
            <a:r>
              <a:rPr lang="en-US" altLang="en-US" sz="23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specifies the operation performed on </a:t>
            </a:r>
            <a:r>
              <a:rPr lang="en-US" altLang="en-US" sz="2300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xSlide</a:t>
            </a:r>
            <a:r>
              <a:rPr lang="en-US" altLang="en-US" sz="23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300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ySlide</a:t>
            </a:r>
            <a:r>
              <a:rPr lang="en-US" altLang="en-US" sz="23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085850" lvl="1" indent="-342900">
              <a:spcBef>
                <a:spcPct val="0"/>
              </a:spcBef>
            </a:pP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button is </a:t>
            </a:r>
            <a:r>
              <a:rPr lang="en-US" alt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unpressed</a:t>
            </a: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result is (</a:t>
            </a:r>
            <a:r>
              <a:rPr lang="en-US" altLang="en-US" sz="1900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xSlide</a:t>
            </a: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altLang="en-US" sz="1900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ySlide</a:t>
            </a: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if the button is </a:t>
            </a:r>
            <a:r>
              <a:rPr lang="en-US" alt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pressed</a:t>
            </a: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result is (</a:t>
            </a:r>
            <a:r>
              <a:rPr lang="en-US" altLang="en-US" sz="1900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xSlide</a:t>
            </a: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altLang="en-US" sz="1900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ySlide</a:t>
            </a: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3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sz="2300" b="0" u="none" dirty="0" err="1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</a:t>
            </a:r>
            <a:r>
              <a:rPr lang="en-US" altLang="en-US" sz="23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button determines how the values are displayed on the seven-segment display.</a:t>
            </a:r>
          </a:p>
          <a:p>
            <a:pPr marL="1085850" lvl="1" indent="-342900">
              <a:spcBef>
                <a:spcPct val="0"/>
              </a:spcBef>
            </a:pP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button is </a:t>
            </a:r>
            <a:r>
              <a:rPr lang="en-US" alt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unpressed </a:t>
            </a: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 values are displayed, and if the button is </a:t>
            </a:r>
            <a:r>
              <a:rPr lang="en-US" altLang="en-US" sz="1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pressed</a:t>
            </a:r>
            <a:r>
              <a:rPr lang="en-US" altLang="en-US" sz="19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2’s complement id displayed.  </a:t>
            </a:r>
          </a:p>
        </p:txBody>
      </p:sp>
      <p:pic>
        <p:nvPicPr>
          <p:cNvPr id="3" name="Picture 2" descr="A close-up of a circuit board&#10;&#10;Description automatically generated">
            <a:extLst>
              <a:ext uri="{FF2B5EF4-FFF2-40B4-BE49-F238E27FC236}">
                <a16:creationId xmlns:a16="http://schemas.microsoft.com/office/drawing/2014/main" id="{D91C20CC-2A05-1F35-9B08-6B51EDCF6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24" y="935119"/>
            <a:ext cx="7928476" cy="2888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27C83F-BC59-2474-07DD-FD639BD4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186"/>
            <a:ext cx="8229600" cy="1143000"/>
          </a:xfrm>
        </p:spPr>
        <p:txBody>
          <a:bodyPr/>
          <a:lstStyle/>
          <a:p>
            <a:r>
              <a:rPr lang="en-US" dirty="0"/>
              <a:t>Operation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EA25CA56-4CE8-14BB-4084-BAAB0D3D678F}"/>
              </a:ext>
            </a:extLst>
          </p:cNvPr>
          <p:cNvSpPr txBox="1">
            <a:spLocks noGrp="1"/>
          </p:cNvSpPr>
          <p:nvPr/>
        </p:nvSpPr>
        <p:spPr bwMode="auto">
          <a:xfrm>
            <a:off x="6569075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B737D0F-4C57-8B49-8797-24C882A74830}" type="slidenum">
              <a:rPr lang="en-US" altLang="en-US" sz="1400" b="0" u="none"/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b="0" u="none"/>
          </a:p>
        </p:txBody>
      </p:sp>
      <p:sp>
        <p:nvSpPr>
          <p:cNvPr id="7172" name="Text Box 14">
            <a:extLst>
              <a:ext uri="{FF2B5EF4-FFF2-40B4-BE49-F238E27FC236}">
                <a16:creationId xmlns:a16="http://schemas.microsoft.com/office/drawing/2014/main" id="{D22A64F4-868E-842A-9E10-62A83F963355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1467436" y="3024732"/>
            <a:ext cx="39395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</p:txBody>
      </p:sp>
      <p:pic>
        <p:nvPicPr>
          <p:cNvPr id="7173" name="Picture 5">
            <a:extLst>
              <a:ext uri="{FF2B5EF4-FFF2-40B4-BE49-F238E27FC236}">
                <a16:creationId xmlns:a16="http://schemas.microsoft.com/office/drawing/2014/main" id="{0E32C63D-67A7-ECAC-3A85-219E01C51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82"/>
          <a:stretch>
            <a:fillRect/>
          </a:stretch>
        </p:blipFill>
        <p:spPr bwMode="auto">
          <a:xfrm>
            <a:off x="825500" y="36513"/>
            <a:ext cx="7637463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A close up of a circuit board&#10;&#10;Description automatically generated">
            <a:extLst>
              <a:ext uri="{FF2B5EF4-FFF2-40B4-BE49-F238E27FC236}">
                <a16:creationId xmlns:a16="http://schemas.microsoft.com/office/drawing/2014/main" id="{F4CEB6FD-6C72-6F7B-09F0-127737D31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18" y="5491163"/>
            <a:ext cx="7428163" cy="1373466"/>
          </a:xfrm>
          <a:prstGeom prst="rect">
            <a:avLst/>
          </a:prstGeom>
        </p:spPr>
      </p:pic>
      <p:pic>
        <p:nvPicPr>
          <p:cNvPr id="5" name="Picture 4" descr="A diagram of a slide button&#10;&#10;Description automatically generated">
            <a:extLst>
              <a:ext uri="{FF2B5EF4-FFF2-40B4-BE49-F238E27FC236}">
                <a16:creationId xmlns:a16="http://schemas.microsoft.com/office/drawing/2014/main" id="{E353582D-146E-57A0-49AC-E97FAFB62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062" y="1211262"/>
            <a:ext cx="4955856" cy="42732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49DAF-DF50-A626-B97B-24B86B87E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Bits do not have meaning</a:t>
            </a:r>
          </a:p>
          <a:p>
            <a:r>
              <a:rPr lang="en-US" sz="1900"/>
              <a:t>Bits have interpretations</a:t>
            </a:r>
          </a:p>
          <a:p>
            <a:r>
              <a:rPr lang="en-US" sz="1900"/>
              <a:t>Interpretations give bits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CC290-3AC0-7042-20B1-FAFD75B5C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221967"/>
            <a:ext cx="5177790" cy="44140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E3259A-D2AD-C4C9-126E-ABFC79E4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2’s complement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5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A88473FC-6787-7DCD-CAB1-35A7D3E3350F}"/>
              </a:ext>
            </a:extLst>
          </p:cNvPr>
          <p:cNvSpPr txBox="1">
            <a:spLocks noGrp="1"/>
          </p:cNvSpPr>
          <p:nvPr/>
        </p:nvSpPr>
        <p:spPr bwMode="auto">
          <a:xfrm>
            <a:off x="6569075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24EE10A-DC3C-2F43-B75C-7B93111354B2}" type="slidenum">
              <a:rPr lang="en-US" altLang="en-US" sz="1400" b="0" u="none"/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b="0" u="none"/>
          </a:p>
        </p:txBody>
      </p:sp>
      <p:pic>
        <p:nvPicPr>
          <p:cNvPr id="9223" name="Picture 5">
            <a:extLst>
              <a:ext uri="{FF2B5EF4-FFF2-40B4-BE49-F238E27FC236}">
                <a16:creationId xmlns:a16="http://schemas.microsoft.com/office/drawing/2014/main" id="{F7F55CAD-AEDB-B6CB-A4C8-C46742734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988" y="1677988"/>
            <a:ext cx="5211762" cy="444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3" name="TextBox 10">
            <a:extLst>
              <a:ext uri="{FF2B5EF4-FFF2-40B4-BE49-F238E27FC236}">
                <a16:creationId xmlns:a16="http://schemas.microsoft.com/office/drawing/2014/main" id="{94B06EF2-9A22-97C8-55BD-9D3C27680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1606550"/>
            <a:ext cx="1274762" cy="421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b="0" u="none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</a:endParaRPr>
          </a:p>
          <a:p>
            <a:pPr eaLnBrk="1" hangingPunct="1">
              <a:defRPr/>
            </a:pPr>
            <a:endParaRPr lang="en-US" altLang="en-US" b="0" u="none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</a:endParaRPr>
          </a:p>
          <a:p>
            <a:pPr eaLnBrk="1" hangingPunct="1">
              <a:defRPr/>
            </a:pPr>
            <a:r>
              <a:rPr lang="en-US" altLang="en-US" b="0" u="none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x=4’b1100</a:t>
            </a:r>
          </a:p>
          <a:p>
            <a:pPr eaLnBrk="1" hangingPunct="1">
              <a:defRPr/>
            </a:pPr>
            <a:r>
              <a:rPr lang="en-US" altLang="en-US" b="0" u="none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interp</a:t>
            </a:r>
            <a:r>
              <a:rPr lang="en-US" altLang="en-US" b="0" u="none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 = 1</a:t>
            </a:r>
          </a:p>
          <a:p>
            <a:pPr eaLnBrk="1" hangingPunct="1">
              <a:defRPr/>
            </a:pPr>
            <a:r>
              <a:rPr lang="en-US" altLang="en-US" b="0" u="none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b="0" u="none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</a:endParaRPr>
          </a:p>
          <a:p>
            <a:pPr eaLnBrk="1" hangingPunct="1">
              <a:defRPr/>
            </a:pPr>
            <a:endParaRPr lang="en-US" altLang="en-US" b="0" u="none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</a:endParaRPr>
          </a:p>
          <a:p>
            <a:pPr eaLnBrk="1" hangingPunct="1">
              <a:defRPr/>
            </a:pPr>
            <a:endParaRPr lang="en-US" altLang="en-US" b="0" u="none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</a:endParaRPr>
          </a:p>
          <a:p>
            <a:pPr eaLnBrk="1" hangingPunct="1">
              <a:defRPr/>
            </a:pPr>
            <a:endParaRPr lang="en-US" altLang="en-US" b="0" u="none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</a:endParaRPr>
          </a:p>
          <a:p>
            <a:pPr eaLnBrk="1" hangingPunct="1">
              <a:defRPr/>
            </a:pPr>
            <a:endParaRPr lang="en-US" altLang="en-US" b="0" u="none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</a:endParaRPr>
          </a:p>
          <a:p>
            <a:pPr eaLnBrk="1" hangingPunct="1">
              <a:defRPr/>
            </a:pPr>
            <a:r>
              <a:rPr lang="en-US" altLang="en-US" b="0" u="none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x=4’b1100</a:t>
            </a:r>
          </a:p>
          <a:p>
            <a:pPr eaLnBrk="1" hangingPunct="1">
              <a:defRPr/>
            </a:pPr>
            <a:r>
              <a:rPr lang="en-US" altLang="en-US" b="0" u="none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interp</a:t>
            </a:r>
            <a:r>
              <a:rPr lang="en-US" altLang="en-US" b="0" u="none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 = 0</a:t>
            </a:r>
          </a:p>
          <a:p>
            <a:pPr eaLnBrk="1" hangingPunct="1">
              <a:defRPr/>
            </a:pPr>
            <a:r>
              <a:rPr lang="en-US" altLang="en-US" b="0" u="none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b="0" u="none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</a:endParaRPr>
          </a:p>
          <a:p>
            <a:pPr eaLnBrk="1" hangingPunct="1">
              <a:defRPr/>
            </a:pPr>
            <a:endParaRPr lang="en-US" altLang="en-US" b="0" u="none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9225" name="Picture 14">
            <a:extLst>
              <a:ext uri="{FF2B5EF4-FFF2-40B4-BE49-F238E27FC236}">
                <a16:creationId xmlns:a16="http://schemas.microsoft.com/office/drawing/2014/main" id="{D5EA0164-B706-169A-4460-C364F8137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4040188"/>
            <a:ext cx="21907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15">
            <a:extLst>
              <a:ext uri="{FF2B5EF4-FFF2-40B4-BE49-F238E27FC236}">
                <a16:creationId xmlns:a16="http://schemas.microsoft.com/office/drawing/2014/main" id="{45E7BA1D-F28B-12CA-C254-D86CE5DC4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7" y="1628775"/>
            <a:ext cx="21891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292538-1D7B-A6F1-594F-B2A4E174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sigUnsig</a:t>
            </a:r>
            <a:r>
              <a:rPr lang="en-US" dirty="0"/>
              <a:t>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4722-0FD1-9B5C-28E9-762F0188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D6C1C-66E3-44A2-36B9-A8636AB4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5BEA86-F470-5B4D-9685-85DE7FBB24DE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E8F1E-50C6-50B0-E009-A2A58F4E010B}"/>
              </a:ext>
            </a:extLst>
          </p:cNvPr>
          <p:cNvSpPr txBox="1"/>
          <p:nvPr/>
        </p:nvSpPr>
        <p:spPr>
          <a:xfrm>
            <a:off x="207034" y="1292275"/>
            <a:ext cx="847976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signUnsig</a:t>
            </a: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Module: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Tables 6.1, 6.2 and 6.3.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the code in Listing 6.2.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Figure 6.4, including: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Constant values on inputs of 4:1 mux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Constant value on the input of the right-most </a:t>
            </a:r>
            <a:r>
              <a:rPr lang="en-US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hexToSeventSeg</a:t>
            </a:r>
            <a:endParaRPr lang="en-US" b="0" u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 on the input of the adder subtractors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 on the input of the comparator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Verilog code for the body of the </a:t>
            </a:r>
            <a:r>
              <a:rPr lang="en-US" b="0" u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sigUnsig</a:t>
            </a: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module (courier 8-point font single spaced), leave out header comments.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Testbench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testbench and timing diagram from Section 6.5.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Pin-Assignment and Synthesis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the pin assignment in table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0" u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 your circuit to a member of the lab team.</a:t>
            </a:r>
          </a:p>
        </p:txBody>
      </p:sp>
    </p:spTree>
    <p:extLst>
      <p:ext uri="{BB962C8B-B14F-4D97-AF65-F5344CB8AC3E}">
        <p14:creationId xmlns:p14="http://schemas.microsoft.com/office/powerpoint/2010/main" val="183954670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A56346D718341AD6F7BE32044DEA3" ma:contentTypeVersion="3" ma:contentTypeDescription="Create a new document." ma:contentTypeScope="" ma:versionID="25a102b5afd0a1dcd770caba5c6c8006">
  <xsd:schema xmlns:xsd="http://www.w3.org/2001/XMLSchema" xmlns:xs="http://www.w3.org/2001/XMLSchema" xmlns:p="http://schemas.microsoft.com/office/2006/metadata/properties" xmlns:ns2="e54ece5e-ea3e-475a-a07c-9da9db720c35" targetNamespace="http://schemas.microsoft.com/office/2006/metadata/properties" ma:root="true" ma:fieldsID="dce9795744e20bb9664c38a3917edc33" ns2:_="">
    <xsd:import namespace="e54ece5e-ea3e-475a-a07c-9da9db720c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ece5e-ea3e-475a-a07c-9da9db720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9529BD-74BA-412C-BAA4-E0905917D26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DAC63AB-99F7-4917-8361-4E063D8677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7CA671-C16C-4DDE-9890-DCAEF0AAA8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4ece5e-ea3e-475a-a07c-9da9db720c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11902</TotalTime>
  <Words>592</Words>
  <Application>Microsoft Office PowerPoint</Application>
  <PresentationFormat>On-screen Show (4:3)</PresentationFormat>
  <Paragraphs>78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Courier New</vt:lpstr>
      <vt:lpstr>Gotham</vt:lpstr>
      <vt:lpstr>Gotham Book</vt:lpstr>
      <vt:lpstr>Default Design</vt:lpstr>
      <vt:lpstr>Office Theme</vt:lpstr>
      <vt:lpstr>EENG 284 Lab 6</vt:lpstr>
      <vt:lpstr>Lab Objectives</vt:lpstr>
      <vt:lpstr>Lab 06:Adder/Subtractor w/ decimal display </vt:lpstr>
      <vt:lpstr>Operation</vt:lpstr>
      <vt:lpstr>PowerPoint Presentation</vt:lpstr>
      <vt:lpstr>2’s complement</vt:lpstr>
      <vt:lpstr>sigUnsig Module</vt:lpstr>
      <vt:lpstr>Deliverables</vt:lpstr>
    </vt:vector>
  </TitlesOfParts>
  <Company>CSM-Academic Computing &amp; Networking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</dc:creator>
  <cp:lastModifiedBy>Chris Coulston</cp:lastModifiedBy>
  <cp:revision>1345</cp:revision>
  <dcterms:created xsi:type="dcterms:W3CDTF">2017-08-23T01:45:02Z</dcterms:created>
  <dcterms:modified xsi:type="dcterms:W3CDTF">2026-01-19T02:50:30Z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0x010100B0CA56346D718341AD6F7BE32044DEA3</vt:lpwstr>
  </property>
</Properties>
</file>