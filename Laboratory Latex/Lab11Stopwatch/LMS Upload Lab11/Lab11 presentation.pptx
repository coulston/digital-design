
<file path=[Content_Types].xml><?xml version="1.0" encoding="utf-8"?>
<Types xmlns="http://schemas.openxmlformats.org/package/2006/content-types">
  <Default Extension="bmp" ContentType="image/bmp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62" r:id="rId2"/>
    <p:sldId id="538" r:id="rId3"/>
    <p:sldId id="557" r:id="rId4"/>
    <p:sldId id="638" r:id="rId5"/>
    <p:sldId id="637" r:id="rId6"/>
    <p:sldId id="636" r:id="rId7"/>
    <p:sldId id="620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14D"/>
    <a:srgbClr val="263F6A"/>
    <a:srgbClr val="8B8D8E"/>
    <a:srgbClr val="CED5DD"/>
    <a:srgbClr val="B2B4B3"/>
    <a:srgbClr val="DD5F36"/>
    <a:srgbClr val="D2492A"/>
    <a:srgbClr val="92A2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352" autoAdjust="0"/>
    <p:restoredTop sz="94404" autoAdjust="0"/>
  </p:normalViewPr>
  <p:slideViewPr>
    <p:cSldViewPr snapToGrid="0" snapToObjects="1">
      <p:cViewPr varScale="1">
        <p:scale>
          <a:sx n="95" d="100"/>
          <a:sy n="95" d="100"/>
        </p:scale>
        <p:origin x="46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68" d="100"/>
          <a:sy n="168" d="100"/>
        </p:scale>
        <p:origin x="3688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A5E3682-A580-49CB-B222-7E68E1F77827}" type="datetimeFigureOut">
              <a:rPr lang="en-US"/>
              <a:pPr>
                <a:defRPr/>
              </a:pPr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0CB211B-C556-4834-9ED6-C94961F28B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380B35F-75C1-435A-83FC-6BDEB1B68FC3}" type="datetimeFigureOut">
              <a:rPr lang="en-US"/>
              <a:pPr>
                <a:defRPr/>
              </a:pPr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E19FD77-256D-451E-8037-DF92D3DBCA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Usually the &lt;title of the lab&gt; is what will be called the “System” through the rest of this document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48017B0-ADEE-4A02-9D61-1633C8CEF410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57200" y="720725"/>
            <a:ext cx="6400800" cy="36004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035E520-8F6F-4753-BE76-62AE1C572A94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Replace &lt;System&gt; with the name of the </a:t>
            </a:r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2F458B4-12F6-41F0-BDC7-CF00A1346CE2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Replace &lt;System&gt; with the name of the </a:t>
            </a: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3EEFC78-E825-4A51-9831-77172A4A1224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2AE46F5-CC56-4B43-B903-8A50D2534590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8675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EE187EC-DD2D-4FBB-B67C-3DD7F420A381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0723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6014EDD-9C46-4439-833C-C5F70960B691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5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835150" y="171450"/>
            <a:ext cx="10356850" cy="582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0"/>
          <p:cNvSpPr/>
          <p:nvPr userDrawn="1"/>
        </p:nvSpPr>
        <p:spPr>
          <a:xfrm>
            <a:off x="-33338" y="0"/>
            <a:ext cx="12258676" cy="6265863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6" name="Straight Connector 13"/>
          <p:cNvCxnSpPr/>
          <p:nvPr userDrawn="1"/>
        </p:nvCxnSpPr>
        <p:spPr>
          <a:xfrm>
            <a:off x="520700" y="3287713"/>
            <a:ext cx="911225" cy="0"/>
          </a:xfrm>
          <a:prstGeom prst="line">
            <a:avLst/>
          </a:prstGeom>
          <a:ln w="28575">
            <a:solidFill>
              <a:srgbClr val="D249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21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381000" y="6373813"/>
            <a:ext cx="3200400" cy="36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22"/>
          <p:cNvSpPr txBox="1"/>
          <p:nvPr userDrawn="1"/>
        </p:nvSpPr>
        <p:spPr>
          <a:xfrm>
            <a:off x="7478713" y="6407150"/>
            <a:ext cx="448945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b="1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9" name="Picture 2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835150" y="171450"/>
            <a:ext cx="10356850" cy="582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5371" y="3737295"/>
            <a:ext cx="9144000" cy="1655762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Subhead, name or date goes here</a:t>
            </a:r>
          </a:p>
        </p:txBody>
      </p:sp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395371" y="2243579"/>
            <a:ext cx="10803672" cy="719056"/>
          </a:xfrm>
        </p:spPr>
        <p:txBody>
          <a:bodyPr>
            <a:normAutofit/>
          </a:bodyPr>
          <a:lstStyle>
            <a:lvl1pPr>
              <a:defRPr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484915DA-2EC8-47AB-9136-FD3F8C748057}" type="datetimeFigureOut">
              <a:rPr lang="en-US"/>
              <a:pPr>
                <a:defRPr/>
              </a:pPr>
              <a:t>12/1/2025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3390530F-425B-4EE3-A801-2541DAD48D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 userDrawn="1"/>
        </p:nvSpPr>
        <p:spPr>
          <a:xfrm>
            <a:off x="-9525" y="-9525"/>
            <a:ext cx="12201525" cy="6265863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81000" y="6373813"/>
            <a:ext cx="3200400" cy="36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12"/>
          <p:cNvSpPr txBox="1"/>
          <p:nvPr userDrawn="1"/>
        </p:nvSpPr>
        <p:spPr>
          <a:xfrm>
            <a:off x="7478713" y="6407150"/>
            <a:ext cx="448945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b="1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rgbClr val="92A2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EB819E89-4786-409B-B26C-E9205B889F49}" type="datetimeFigureOut">
              <a:rPr lang="en-US"/>
              <a:pPr>
                <a:defRPr/>
              </a:pPr>
              <a:t>12/1/2025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3E4E0D1B-3103-4D27-8AB1-BCF7279DDC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/>
          <p:cNvSpPr/>
          <p:nvPr userDrawn="1"/>
        </p:nvSpPr>
        <p:spPr>
          <a:xfrm>
            <a:off x="-9525" y="6265863"/>
            <a:ext cx="12201525" cy="601662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TextBox 13"/>
          <p:cNvSpPr txBox="1"/>
          <p:nvPr userDrawn="1"/>
        </p:nvSpPr>
        <p:spPr>
          <a:xfrm>
            <a:off x="7478713" y="6399213"/>
            <a:ext cx="448945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b="1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6" name="Picture 9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81000" y="6381750"/>
            <a:ext cx="320040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C45C419E-E34E-45BC-A3CC-C5EF1BA9A83C}" type="datetimeFigureOut">
              <a:rPr lang="en-US"/>
              <a:pPr>
                <a:defRPr/>
              </a:pPr>
              <a:t>12/1/2025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4F203992-7FE8-4A26-B97C-D19AA91959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 userDrawn="1"/>
        </p:nvSpPr>
        <p:spPr>
          <a:xfrm>
            <a:off x="-9525" y="6265863"/>
            <a:ext cx="12201525" cy="592137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TextBox 12"/>
          <p:cNvSpPr txBox="1"/>
          <p:nvPr userDrawn="1"/>
        </p:nvSpPr>
        <p:spPr>
          <a:xfrm>
            <a:off x="7478713" y="6399213"/>
            <a:ext cx="448945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b="1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7" name="Picture 13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81000" y="6381750"/>
            <a:ext cx="320040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0203F9A6-1470-42CD-9A0A-C0EC133E4677}" type="datetimeFigureOut">
              <a:rPr lang="en-US"/>
              <a:pPr>
                <a:defRPr/>
              </a:pPr>
              <a:t>12/1/2025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33F08012-3D00-4C51-A463-C72B4589DD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/>
          <p:nvPr userDrawn="1"/>
        </p:nvSpPr>
        <p:spPr>
          <a:xfrm>
            <a:off x="-9525" y="6265863"/>
            <a:ext cx="12201525" cy="592137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extBox 14"/>
          <p:cNvSpPr txBox="1"/>
          <p:nvPr userDrawn="1"/>
        </p:nvSpPr>
        <p:spPr>
          <a:xfrm>
            <a:off x="7478713" y="6399213"/>
            <a:ext cx="448945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b="1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9" name="Picture 15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81000" y="6381750"/>
            <a:ext cx="320040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D7B0134E-FFA9-427C-993F-EC14CDC9B802}" type="datetimeFigureOut">
              <a:rPr lang="en-US"/>
              <a:pPr>
                <a:defRPr/>
              </a:pPr>
              <a:t>12/1/2025</a:t>
            </a:fld>
            <a:endParaRPr lang="en-US"/>
          </a:p>
        </p:txBody>
      </p:sp>
      <p:sp>
        <p:nvSpPr>
          <p:cNvPr id="11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8080482A-2848-4BCF-827A-81F4637AC9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/>
          <p:nvPr userDrawn="1"/>
        </p:nvSpPr>
        <p:spPr>
          <a:xfrm>
            <a:off x="-9525" y="6265863"/>
            <a:ext cx="12201525" cy="592137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TextBox 10"/>
          <p:cNvSpPr txBox="1"/>
          <p:nvPr userDrawn="1"/>
        </p:nvSpPr>
        <p:spPr>
          <a:xfrm>
            <a:off x="7478713" y="6399213"/>
            <a:ext cx="448945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b="1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81000" y="6381750"/>
            <a:ext cx="320040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489C432F-8257-4A6B-A2C7-361FE2629091}" type="datetimeFigureOut">
              <a:rPr lang="en-US"/>
              <a:pPr>
                <a:defRPr/>
              </a:pPr>
              <a:t>12/1/2025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946E8E12-ECE1-49CE-A810-781F5A4A1C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>
            <a:spLocks/>
          </p:cNvSpPr>
          <p:nvPr userDrawn="1"/>
        </p:nvSpPr>
        <p:spPr>
          <a:xfrm>
            <a:off x="838200" y="5746750"/>
            <a:ext cx="13017500" cy="7794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rgbClr val="21314D"/>
                </a:solidFill>
                <a:latin typeface="Gotham Medium" charset="0"/>
                <a:ea typeface="Gotham Medium" charset="0"/>
                <a:cs typeface="Gotham Medium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Headline Copy Goes Here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1"/>
          </p:nvPr>
        </p:nvSpPr>
        <p:spPr>
          <a:xfrm>
            <a:off x="0" y="1"/>
            <a:ext cx="12192000" cy="557703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FB9E4804-E364-4112-A74B-E729662EB41A}" type="datetimeFigureOut">
              <a:rPr lang="en-US"/>
              <a:pPr>
                <a:defRPr/>
              </a:pPr>
              <a:t>12/1/2025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CEC7F841-D10E-4E83-A246-2CDE30F2CC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-9525" y="-9525"/>
            <a:ext cx="12201525" cy="686752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835150" y="552450"/>
            <a:ext cx="10356850" cy="582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2046399" y="2531096"/>
            <a:ext cx="9144000" cy="1655762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7"/>
          <p:cNvSpPr txBox="1"/>
          <p:nvPr userDrawn="1"/>
        </p:nvSpPr>
        <p:spPr>
          <a:xfrm>
            <a:off x="7478713" y="6407150"/>
            <a:ext cx="448945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b="1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7060252" y="982464"/>
            <a:ext cx="4862405" cy="1794085"/>
          </a:xfrm>
        </p:spPr>
        <p:txBody>
          <a:bodyPr/>
          <a:lstStyle/>
          <a:p>
            <a:r>
              <a:rPr lang="en-US" dirty="0"/>
              <a:t>Headline Copy Goes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7060253" y="3052261"/>
            <a:ext cx="4862404" cy="1975926"/>
          </a:xfrm>
        </p:spPr>
        <p:txBody>
          <a:bodyPr/>
          <a:lstStyle/>
          <a:p>
            <a:r>
              <a:rPr lang="en-US" dirty="0"/>
              <a:t>Click to add text</a:t>
            </a:r>
          </a:p>
          <a:p>
            <a:r>
              <a:rPr lang="en-US" dirty="0"/>
              <a:t>Click to add text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0"/>
          </p:nvPr>
        </p:nvSpPr>
        <p:spPr>
          <a:xfrm>
            <a:off x="0" y="3"/>
            <a:ext cx="6890995" cy="685799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en-US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/>
          <p:nvPr userDrawn="1"/>
        </p:nvSpPr>
        <p:spPr>
          <a:xfrm>
            <a:off x="-9525" y="6265863"/>
            <a:ext cx="12201525" cy="592137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TextBox 10"/>
          <p:cNvSpPr txBox="1"/>
          <p:nvPr userDrawn="1"/>
        </p:nvSpPr>
        <p:spPr>
          <a:xfrm>
            <a:off x="7478713" y="6399213"/>
            <a:ext cx="448945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b="1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7" name="Picture 13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81000" y="6381750"/>
            <a:ext cx="320040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BD73604E-5EC9-4B8E-82FA-0430F5D7D8A8}" type="datetimeFigureOut">
              <a:rPr lang="en-US"/>
              <a:pPr>
                <a:defRPr/>
              </a:pPr>
              <a:t>12/1/2025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C14CF623-E154-4675-B8F4-8438DBFB2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 userDrawn="1"/>
        </p:nvSpPr>
        <p:spPr>
          <a:xfrm>
            <a:off x="-9525" y="-9525"/>
            <a:ext cx="5183188" cy="6942138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6" name="Picture 1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81000" y="6381750"/>
            <a:ext cx="320040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058" y="472281"/>
            <a:ext cx="3932237" cy="1600200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9" y="2"/>
            <a:ext cx="7008812" cy="685799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0058" y="2072481"/>
            <a:ext cx="3932237" cy="3811588"/>
          </a:xfrm>
        </p:spPr>
        <p:txBody>
          <a:bodyPr>
            <a:normAutofit/>
          </a:bodyPr>
          <a:lstStyle>
            <a:lvl1pPr marL="457189" indent="-457189">
              <a:buFont typeface="Arial" charset="0"/>
              <a:buChar char="•"/>
              <a:defRPr sz="280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CBBAA601-463C-4B22-A098-9EAC4AAB6933}" type="datetimeFigureOut">
              <a:rPr lang="en-US"/>
              <a:pPr>
                <a:defRPr/>
              </a:pPr>
              <a:t>12/1/2025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B07F9A49-1137-4116-8916-CA194CD0DB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 userDrawn="1"/>
        </p:nvSpPr>
        <p:spPr>
          <a:xfrm>
            <a:off x="-9525" y="6265863"/>
            <a:ext cx="12201525" cy="601662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TextBox 11"/>
          <p:cNvSpPr txBox="1"/>
          <p:nvPr userDrawn="1"/>
        </p:nvSpPr>
        <p:spPr>
          <a:xfrm>
            <a:off x="7478713" y="6399213"/>
            <a:ext cx="448945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b="1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6" name="Picture 1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81000" y="6381750"/>
            <a:ext cx="320040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76255F6B-3963-401D-9C6A-C763DC688FB8}" type="datetimeFigureOut">
              <a:rPr lang="en-US"/>
              <a:pPr>
                <a:defRPr/>
              </a:pPr>
              <a:t>12/1/2025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881BB409-2907-492F-AF52-B9CE6F8928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 userDrawn="1"/>
        </p:nvSpPr>
        <p:spPr>
          <a:xfrm>
            <a:off x="-9525" y="6265863"/>
            <a:ext cx="12201525" cy="601662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TextBox 11"/>
          <p:cNvSpPr txBox="1"/>
          <p:nvPr userDrawn="1"/>
        </p:nvSpPr>
        <p:spPr>
          <a:xfrm>
            <a:off x="7478713" y="6399213"/>
            <a:ext cx="448945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b="1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6" name="Picture 1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81000" y="6381750"/>
            <a:ext cx="320040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93919742-7859-464A-8A16-403E6BAB140E}" type="datetimeFigureOut">
              <a:rPr lang="en-US"/>
              <a:pPr>
                <a:defRPr/>
              </a:pPr>
              <a:t>12/1/2025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0B4858E6-A453-4481-9B67-A44AD5B3BA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28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 kern="1200">
          <a:solidFill>
            <a:srgbClr val="21314D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algn="l" defTabSz="9128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21314D"/>
          </a:solidFill>
          <a:latin typeface="Arial" charset="0"/>
          <a:cs typeface="Arial" charset="0"/>
        </a:defRPr>
      </a:lvl2pPr>
      <a:lvl3pPr algn="l" defTabSz="9128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21314D"/>
          </a:solidFill>
          <a:latin typeface="Arial" charset="0"/>
          <a:cs typeface="Arial" charset="0"/>
        </a:defRPr>
      </a:lvl3pPr>
      <a:lvl4pPr algn="l" defTabSz="9128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21314D"/>
          </a:solidFill>
          <a:latin typeface="Arial" charset="0"/>
          <a:cs typeface="Arial" charset="0"/>
        </a:defRPr>
      </a:lvl4pPr>
      <a:lvl5pPr algn="l" defTabSz="9128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21314D"/>
          </a:solidFill>
          <a:latin typeface="Arial" charset="0"/>
          <a:cs typeface="Arial" charset="0"/>
        </a:defRPr>
      </a:lvl5pPr>
      <a:lvl6pPr marL="457200"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21314D"/>
          </a:solidFill>
          <a:latin typeface="Arial" charset="0"/>
          <a:cs typeface="Arial" charset="0"/>
        </a:defRPr>
      </a:lvl6pPr>
      <a:lvl7pPr marL="914400"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21314D"/>
          </a:solidFill>
          <a:latin typeface="Arial" charset="0"/>
          <a:cs typeface="Arial" charset="0"/>
        </a:defRPr>
      </a:lvl7pPr>
      <a:lvl8pPr marL="1371600"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21314D"/>
          </a:solidFill>
          <a:latin typeface="Arial" charset="0"/>
          <a:cs typeface="Arial" charset="0"/>
        </a:defRPr>
      </a:lvl8pPr>
      <a:lvl9pPr marL="1828800" algn="l" defTabSz="912813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rgbClr val="21314D"/>
          </a:solidFill>
          <a:latin typeface="Arial" charset="0"/>
          <a:cs typeface="Arial" charset="0"/>
        </a:defRPr>
      </a:lvl9pPr>
    </p:titleStyle>
    <p:bodyStyle>
      <a:lvl1pPr marL="227013" indent="-227013" algn="l" defTabSz="9128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684213" indent="-227013" algn="l" defTabSz="912813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1141413" indent="-227013" algn="l" defTabSz="912813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1598613" indent="-227013" algn="l" defTabSz="912813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2055813" indent="-227013" algn="l" defTabSz="912813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bm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288" y="2243138"/>
            <a:ext cx="10804525" cy="719137"/>
          </a:xfrm>
        </p:spPr>
        <p:txBody>
          <a:bodyPr rtlCol="0">
            <a:normAutofit fontScale="90000"/>
          </a:bodyPr>
          <a:lstStyle/>
          <a:p>
            <a:pPr defTabSz="914377" eaLnBrk="1" fontAlgn="auto" hangingPunct="1">
              <a:spcAft>
                <a:spcPts val="0"/>
              </a:spcAft>
              <a:defRPr/>
            </a:pPr>
            <a:r>
              <a:rPr lang="en-US" dirty="0"/>
              <a:t>EENG 284</a:t>
            </a:r>
            <a:br>
              <a:rPr lang="en-US" dirty="0"/>
            </a:br>
            <a:r>
              <a:rPr lang="en-US" dirty="0"/>
              <a:t>Lab 11</a:t>
            </a:r>
          </a:p>
        </p:txBody>
      </p:sp>
      <p:sp>
        <p:nvSpPr>
          <p:cNvPr id="17410" name="Subtitle 2"/>
          <p:cNvSpPr>
            <a:spLocks noGrp="1"/>
          </p:cNvSpPr>
          <p:nvPr>
            <p:ph type="subTitle" idx="1"/>
          </p:nvPr>
        </p:nvSpPr>
        <p:spPr>
          <a:xfrm>
            <a:off x="395288" y="3736975"/>
            <a:ext cx="9144000" cy="1655763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Stopwatch Datapath and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Lab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90925"/>
          </a:xfrm>
        </p:spPr>
        <p:txBody>
          <a:bodyPr/>
          <a:lstStyle/>
          <a:p>
            <a:pPr marL="0" indent="0" eaLnBrk="1" hangingPunct="1"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The objective of this lab is to unify the stopwatch datapath and control units into a working design that runs on the CG5.</a:t>
            </a:r>
          </a:p>
          <a:p>
            <a:pPr marL="0" indent="0" eaLnBrk="1" hangingPunct="1">
              <a:buFont typeface="Arial" charset="0"/>
              <a:buNone/>
            </a:pPr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Stopwatch Behavior</a:t>
            </a:r>
          </a:p>
        </p:txBody>
      </p:sp>
      <p:sp>
        <p:nvSpPr>
          <p:cNvPr id="21506" name="Content Placeholder 2"/>
          <p:cNvSpPr>
            <a:spLocks noGrp="1"/>
          </p:cNvSpPr>
          <p:nvPr>
            <p:ph idx="1"/>
          </p:nvPr>
        </p:nvSpPr>
        <p:spPr>
          <a:xfrm>
            <a:off x="838200" y="1474788"/>
            <a:ext cx="10515600" cy="40259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The stopwatch’s behavior is dictated by buttons S1 and S2.</a:t>
            </a:r>
          </a:p>
          <a:p>
            <a:pPr eaLnBrk="1" hangingPunct="1"/>
            <a:endParaRPr lang="en-US">
              <a:latin typeface="Arial" charset="0"/>
              <a:cs typeface="Arial" charset="0"/>
            </a:endParaRPr>
          </a:p>
          <a:p>
            <a:pPr eaLnBrk="1" hangingPunct="1"/>
            <a:endParaRPr lang="en-US">
              <a:latin typeface="Arial" charset="0"/>
              <a:cs typeface="Arial" charset="0"/>
            </a:endParaRPr>
          </a:p>
          <a:p>
            <a:pPr eaLnBrk="1" hangingPunct="1"/>
            <a:endParaRPr lang="en-US">
              <a:latin typeface="Arial" charset="0"/>
              <a:cs typeface="Arial" charset="0"/>
            </a:endParaRPr>
          </a:p>
          <a:p>
            <a:pPr eaLnBrk="1" hangingPunct="1"/>
            <a:endParaRPr lang="en-US">
              <a:latin typeface="Arial" charset="0"/>
              <a:cs typeface="Arial" charset="0"/>
            </a:endParaRPr>
          </a:p>
          <a:p>
            <a:pPr eaLnBrk="1" hangingPunct="1"/>
            <a:r>
              <a:rPr lang="en-US">
                <a:latin typeface="Arial" charset="0"/>
                <a:cs typeface="Arial" charset="0"/>
              </a:rPr>
              <a:t>The buttons and display on the CG5 board.</a:t>
            </a:r>
          </a:p>
          <a:p>
            <a:pPr eaLnBrk="1" hangingPunct="1">
              <a:buFont typeface="Arial" charset="0"/>
              <a:buNone/>
            </a:pPr>
            <a:endParaRPr lang="en-US">
              <a:latin typeface="Arial" charset="0"/>
              <a:cs typeface="Arial" charset="0"/>
            </a:endParaRPr>
          </a:p>
        </p:txBody>
      </p:sp>
      <p:pic>
        <p:nvPicPr>
          <p:cNvPr id="21508" name="Picture 4" descr="A picture containing text, electronics, circuitDescription automatically generated"/>
          <p:cNvPicPr>
            <a:picLocks noChangeAspect="1" noChangeArrowheads="1"/>
          </p:cNvPicPr>
          <p:nvPr/>
        </p:nvPicPr>
        <p:blipFill>
          <a:blip r:embed="rId3"/>
          <a:srcRect b="5467"/>
          <a:stretch>
            <a:fillRect/>
          </a:stretch>
        </p:blipFill>
        <p:spPr bwMode="auto">
          <a:xfrm>
            <a:off x="4200525" y="4616450"/>
            <a:ext cx="4924425" cy="147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A5E2AE-0B66-E1E6-5444-5D4F771EFB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2914" y="1925154"/>
            <a:ext cx="4709823" cy="20991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Top Level Stopwatch</a:t>
            </a:r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25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The top-level contains “2” lines of Verilog</a:t>
            </a:r>
          </a:p>
          <a:p>
            <a:pPr lvl="1" eaLnBrk="1" hangingPunct="1"/>
            <a:r>
              <a:rPr lang="en-US" dirty="0">
                <a:latin typeface="Arial" charset="0"/>
                <a:cs typeface="Arial" charset="0"/>
              </a:rPr>
              <a:t>Instantiate Datapath</a:t>
            </a:r>
          </a:p>
          <a:p>
            <a:pPr lvl="1" eaLnBrk="1" hangingPunct="1"/>
            <a:r>
              <a:rPr lang="en-US" dirty="0">
                <a:latin typeface="Arial" charset="0"/>
                <a:cs typeface="Arial" charset="0"/>
              </a:rPr>
              <a:t>Instantiate Control Unit </a:t>
            </a:r>
          </a:p>
        </p:txBody>
      </p:sp>
      <p:pic>
        <p:nvPicPr>
          <p:cNvPr id="23555" name="Picture 1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49500" y="3271838"/>
            <a:ext cx="6626225" cy="266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Simulation</a:t>
            </a:r>
          </a:p>
        </p:txBody>
      </p:sp>
      <p:sp>
        <p:nvSpPr>
          <p:cNvPr id="256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Perform simulation by hand</a:t>
            </a:r>
          </a:p>
          <a:p>
            <a:pPr lvl="1" eaLnBrk="1" hangingPunct="1"/>
            <a:r>
              <a:rPr lang="en-US">
                <a:latin typeface="Arial" charset="0"/>
                <a:cs typeface="Arial" charset="0"/>
              </a:rPr>
              <a:t>Before performing actual sim so you can verify integrity of sim</a:t>
            </a:r>
          </a:p>
          <a:p>
            <a:pPr lvl="1" eaLnBrk="1" hangingPunct="1"/>
            <a:r>
              <a:rPr lang="en-US">
                <a:latin typeface="Arial" charset="0"/>
                <a:cs typeface="Arial" charset="0"/>
              </a:rPr>
              <a:t>Use state names from Figure 3 in Lab 10 </a:t>
            </a:r>
          </a:p>
          <a:p>
            <a:pPr lvl="1" eaLnBrk="1" hangingPunct="1"/>
            <a:r>
              <a:rPr lang="en-US">
                <a:latin typeface="Arial" charset="0"/>
                <a:cs typeface="Arial" charset="0"/>
              </a:rPr>
              <a:t>Fill in all sausage links with values, even if they repeat</a:t>
            </a:r>
          </a:p>
        </p:txBody>
      </p:sp>
      <p:pic>
        <p:nvPicPr>
          <p:cNvPr id="2560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4063" y="3867150"/>
            <a:ext cx="9144000" cy="2043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Simulation</a:t>
            </a:r>
          </a:p>
        </p:txBody>
      </p:sp>
      <p:sp>
        <p:nvSpPr>
          <p:cNvPr id="2765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Use Quartus to perform simulation of your design</a:t>
            </a:r>
          </a:p>
          <a:p>
            <a:pPr lvl="1" eaLnBrk="1" hangingPunct="1"/>
            <a:r>
              <a:rPr lang="en-US" dirty="0">
                <a:latin typeface="Arial" charset="0"/>
                <a:cs typeface="Arial" charset="0"/>
              </a:rPr>
              <a:t>Testbench and DO file provided</a:t>
            </a:r>
          </a:p>
          <a:p>
            <a:pPr lvl="1" eaLnBrk="1" hangingPunct="1"/>
            <a:r>
              <a:rPr lang="en-US" dirty="0">
                <a:latin typeface="Arial" charset="0"/>
                <a:cs typeface="Arial" charset="0"/>
              </a:rPr>
              <a:t>Should exactly match the hand drawn simulation</a:t>
            </a:r>
          </a:p>
        </p:txBody>
      </p:sp>
      <p:pic>
        <p:nvPicPr>
          <p:cNvPr id="2" name="Picture 1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E5487D7-DB10-0CFF-D4C1-AB2673BA8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518" y="3089787"/>
            <a:ext cx="10894286" cy="29051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Deliverables</a:t>
            </a:r>
          </a:p>
        </p:txBody>
      </p:sp>
      <p:sp>
        <p:nvSpPr>
          <p:cNvPr id="2969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Stopwatch Simulation</a:t>
            </a:r>
          </a:p>
          <a:p>
            <a:pPr lvl="1" eaLnBrk="1" hangingPunct="1"/>
            <a:r>
              <a:rPr lang="en-US">
                <a:latin typeface="Arial" charset="0"/>
                <a:cs typeface="Arial" charset="0"/>
              </a:rPr>
              <a:t>Completed Figure 4 and Figure 5</a:t>
            </a:r>
          </a:p>
          <a:p>
            <a:pPr lvl="2" eaLnBrk="1" hangingPunct="1"/>
            <a:r>
              <a:rPr lang="en-US">
                <a:latin typeface="Arial" charset="0"/>
                <a:cs typeface="Arial" charset="0"/>
              </a:rPr>
              <a:t>Paste the images in landscape format into your solutions</a:t>
            </a:r>
          </a:p>
          <a:p>
            <a:pPr lvl="1" eaLnBrk="1" hangingPunct="1"/>
            <a:r>
              <a:rPr lang="en-US">
                <a:latin typeface="Arial" charset="0"/>
                <a:cs typeface="Arial" charset="0"/>
              </a:rPr>
              <a:t>Complete Simulation</a:t>
            </a:r>
          </a:p>
          <a:p>
            <a:pPr lvl="2" eaLnBrk="1" hangingPunct="1"/>
            <a:r>
              <a:rPr lang="en-US" sz="2400">
                <a:latin typeface="Arial" charset="0"/>
                <a:cs typeface="Arial" charset="0"/>
              </a:rPr>
              <a:t>Screen shot the simulation into three parts,</a:t>
            </a:r>
          </a:p>
          <a:p>
            <a:pPr lvl="2" eaLnBrk="1" hangingPunct="1"/>
            <a:r>
              <a:rPr lang="en-US">
                <a:latin typeface="Arial" charset="0"/>
                <a:cs typeface="Arial" charset="0"/>
              </a:rPr>
              <a:t>0 to 400ps		400ps to 800ps		800ps to 1200ps</a:t>
            </a:r>
          </a:p>
          <a:p>
            <a:pPr lvl="2" eaLnBrk="1" hangingPunct="1"/>
            <a:r>
              <a:rPr lang="en-US">
                <a:latin typeface="Arial" charset="0"/>
                <a:cs typeface="Arial" charset="0"/>
              </a:rPr>
              <a:t>Paste the simulation in landscape format into your solutions</a:t>
            </a:r>
          </a:p>
          <a:p>
            <a:pPr eaLnBrk="1" hangingPunct="1"/>
            <a:r>
              <a:rPr lang="en-US">
                <a:latin typeface="Arial" charset="0"/>
                <a:cs typeface="Arial" charset="0"/>
              </a:rPr>
              <a:t>Stopwatch Synthesis</a:t>
            </a:r>
          </a:p>
          <a:p>
            <a:pPr lvl="1" eaLnBrk="1" hangingPunct="1"/>
            <a:r>
              <a:rPr lang="en-US">
                <a:latin typeface="Arial" charset="0"/>
                <a:cs typeface="Arial" charset="0"/>
              </a:rPr>
              <a:t>Completed pin assignment table</a:t>
            </a:r>
          </a:p>
          <a:p>
            <a:pPr lvl="1" eaLnBrk="1" hangingPunct="1"/>
            <a:r>
              <a:rPr lang="en-US">
                <a:latin typeface="Arial" charset="0"/>
                <a:cs typeface="Arial" charset="0"/>
              </a:rPr>
              <a:t>Demo working stopwatch</a:t>
            </a:r>
          </a:p>
          <a:p>
            <a:pPr eaLnBrk="1" hangingPunct="1"/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CA56346D718341AD6F7BE32044DEA3" ma:contentTypeVersion="4" ma:contentTypeDescription="Create a new document." ma:contentTypeScope="" ma:versionID="3b61ccf4286e9215fa87b8b2c28b3aa1">
  <xsd:schema xmlns:xsd="http://www.w3.org/2001/XMLSchema" xmlns:xs="http://www.w3.org/2001/XMLSchema" xmlns:p="http://schemas.microsoft.com/office/2006/metadata/properties" xmlns:ns2="e54ece5e-ea3e-475a-a07c-9da9db720c35" targetNamespace="http://schemas.microsoft.com/office/2006/metadata/properties" ma:root="true" ma:fieldsID="0fbf9ef94574dbc1ce6bb107763debdc" ns2:_="">
    <xsd:import namespace="e54ece5e-ea3e-475a-a07c-9da9db720c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4ece5e-ea3e-475a-a07c-9da9db720c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80EAD91-0941-4D44-8765-BC994D8579E9}"/>
</file>

<file path=customXml/itemProps2.xml><?xml version="1.0" encoding="utf-8"?>
<ds:datastoreItem xmlns:ds="http://schemas.openxmlformats.org/officeDocument/2006/customXml" ds:itemID="{42D6CBF6-E48C-4F1E-B1CE-31B6BA0A59DE}"/>
</file>

<file path=customXml/itemProps3.xml><?xml version="1.0" encoding="utf-8"?>
<ds:datastoreItem xmlns:ds="http://schemas.openxmlformats.org/officeDocument/2006/customXml" ds:itemID="{34587BCF-CC4B-4A0C-B104-320FADABBD63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3336</TotalTime>
  <Words>239</Words>
  <Application>Microsoft Office PowerPoint</Application>
  <PresentationFormat>Widescreen</PresentationFormat>
  <Paragraphs>45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Gotham</vt:lpstr>
      <vt:lpstr>Gotham Book</vt:lpstr>
      <vt:lpstr>Office Theme</vt:lpstr>
      <vt:lpstr>EENG 284 Lab 11</vt:lpstr>
      <vt:lpstr>Lab Objectives</vt:lpstr>
      <vt:lpstr>Stopwatch Behavior</vt:lpstr>
      <vt:lpstr>Top Level Stopwatch</vt:lpstr>
      <vt:lpstr>Simulation</vt:lpstr>
      <vt:lpstr>Simulation</vt:lpstr>
      <vt:lpstr>Deliverables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Prachi Sharma</cp:lastModifiedBy>
  <cp:revision>93</cp:revision>
  <dcterms:created xsi:type="dcterms:W3CDTF">2017-08-01T15:06:47Z</dcterms:created>
  <dcterms:modified xsi:type="dcterms:W3CDTF">2025-12-02T02:54:27Z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0x010100B0CA56346D718341AD6F7BE32044DEA3</vt:lpwstr>
  </property>
</Properties>
</file>